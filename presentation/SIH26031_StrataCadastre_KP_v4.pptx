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₹/qtl</c:v>
                </c:pt>
              </c:strCache>
            </c:strRef>
          </c:tx>
          <c:spPr>
            <a:solidFill>
              <a:srgbClr val="B3261E"/>
            </a:solidFill>
          </c:spPr>
          <c:dPt>
            <c:idx val="0"/>
            <c:spPr>
              <a:solidFill>
                <a:srgbClr val="9AA5B1"/>
              </a:solidFill>
            </c:spPr>
          </c:dPt>
          <c:cat>
            <c:strRef>
              <c:f>Sheet1!$A$2:$A$3</c:f>
              <c:strCache>
                <c:ptCount val="2"/>
                <c:pt idx="0">
                  <c:v>Season start</c:v>
                </c:pt>
                <c:pt idx="1">
                  <c:v>From 30 July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1350</c:v>
                </c:pt>
                <c:pt idx="1">
                  <c:v>2335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.0"/>
          <c:min val="0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B6B7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44.png"/><Relationship Id="rId19" Type="http://schemas.openxmlformats.org/officeDocument/2006/relationships/image" Target="../media/image29.png"/><Relationship Id="rId20" Type="http://schemas.openxmlformats.org/officeDocument/2006/relationships/image" Target="../media/image4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34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43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20" Type="http://schemas.openxmlformats.org/officeDocument/2006/relationships/image" Target="../media/image60.png"/><Relationship Id="rId21" Type="http://schemas.openxmlformats.org/officeDocument/2006/relationships/image" Target="../media/image61.png"/><Relationship Id="rId22" Type="http://schemas.openxmlformats.org/officeDocument/2006/relationships/image" Target="../media/image29.png"/><Relationship Id="rId23" Type="http://schemas.openxmlformats.org/officeDocument/2006/relationships/image" Target="../media/image62.png"/><Relationship Id="rId24" Type="http://schemas.openxmlformats.org/officeDocument/2006/relationships/image" Target="../media/image44.png"/><Relationship Id="rId25" Type="http://schemas.openxmlformats.org/officeDocument/2006/relationships/image" Target="../media/image63.png"/><Relationship Id="rId26" Type="http://schemas.openxmlformats.org/officeDocument/2006/relationships/image" Target="../media/image64.png"/><Relationship Id="rId27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5.png"/><Relationship Id="rId5" Type="http://schemas.openxmlformats.org/officeDocument/2006/relationships/image" Target="../media/image46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chart" Target="../charts/chart1.xml"/><Relationship Id="rId9" Type="http://schemas.openxmlformats.org/officeDocument/2006/relationships/image" Target="../media/image68.png"/><Relationship Id="rId10" Type="http://schemas.openxmlformats.org/officeDocument/2006/relationships/image" Target="../media/image35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56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png"/><Relationship Id="rId18" Type="http://schemas.openxmlformats.org/officeDocument/2006/relationships/image" Target="../media/image75.png"/><Relationship Id="rId19" Type="http://schemas.openxmlformats.org/officeDocument/2006/relationships/image" Target="../media/image76.png"/><Relationship Id="rId20" Type="http://schemas.openxmlformats.org/officeDocument/2006/relationships/image" Target="../media/image7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3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44.png"/><Relationship Id="rId17" Type="http://schemas.openxmlformats.org/officeDocument/2006/relationships/image" Target="../media/image66.png"/><Relationship Id="rId18" Type="http://schemas.openxmlformats.org/officeDocument/2006/relationships/image" Target="../media/image33.png"/><Relationship Id="rId19" Type="http://schemas.openxmlformats.org/officeDocument/2006/relationships/image" Target="../media/image56.png"/><Relationship Id="rId20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11480" y="137160"/>
            <a:ext cx="9235440" cy="868680"/>
          </a:xfrm>
        </p:spPr>
        <p:txBody>
          <a:bodyPr/>
          <a:lstStyle/>
          <a:p>
            <a:r>
              <a:rPr lang="en-US" sz="3400" b="1" dirty="0">
                <a:solidFill>
                  <a:srgbClr val="44546A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rgbClr val="44546A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b="1" sz="2100">
                <a:latin typeface="Arial"/>
              </a:rPr>
              <a:t>SIH26031</a:t>
            </a:r>
          </a:p>
          <a:p>
            <a:pPr marL="285750" indent="-28575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b="1" sz="1300">
                <a:latin typeface="Arial"/>
              </a:rPr>
              <a:t>Quality assessment and grading of onions are often subjective and vary across procurement centers, resulting in disputes and inconsistencies.</a:t>
            </a:r>
          </a:p>
          <a:p>
            <a:pPr marL="285750" indent="-28575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b="1" sz="2100">
                <a:latin typeface="Arial"/>
              </a:rPr>
              <a:t>Smart Automation</a:t>
            </a:r>
          </a:p>
          <a:p>
            <a:pPr marL="285750" indent="-28575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b="1" sz="2100">
                <a:latin typeface="Arial"/>
              </a:rPr>
              <a:t>Software</a:t>
            </a:r>
          </a:p>
          <a:p>
            <a:pPr marL="285750" indent="-28575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b="1" sz="2100">
                <a:latin typeface="Arial"/>
              </a:rPr>
              <a:t>[Team ID]</a:t>
            </a:r>
          </a:p>
          <a:p>
            <a:pPr marL="285750" indent="-28575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b="1" sz="2100">
                <a:latin typeface="Arial"/>
              </a:rPr>
              <a:t>StrataCadastre_KP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55279" cy="713232"/>
          </a:xfrm>
        </p:spPr>
        <p:txBody>
          <a:bodyPr anchor="ctr"/>
          <a:lstStyle/>
          <a:p>
            <a:pPr eaLnBrk="1" hangingPunct="1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01168"/>
            <a:ext cx="1417320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100">
                <a:solidFill>
                  <a:srgbClr val="000000"/>
                </a:solidFill>
                <a:latin typeface="Calibri"/>
              </a:rPr>
              <a:t>StrataCadastre_KP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783080" y="786384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B6B7A"/>
                </a:solidFill>
                <a:latin typeface="Calibri"/>
              </a:rPr>
              <a:t>EkMaap (“one measure”): one photo of the sample → every onion measured and labelled → a verifiable quality report.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1188720"/>
            <a:ext cx="3246120" cy="1591056"/>
          </a:xfrm>
          <a:prstGeom prst="roundRect">
            <a:avLst>
              <a:gd name="adj" fmla="val 5000"/>
            </a:avLst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Oval 15363"/>
          <p:cNvSpPr/>
          <p:nvPr/>
        </p:nvSpPr>
        <p:spPr>
          <a:xfrm>
            <a:off x="512064" y="1316736"/>
            <a:ext cx="420624" cy="420624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5" name="Picture 15364" descr="wordvsword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" y="1400860"/>
            <a:ext cx="252374" cy="252374"/>
          </a:xfrm>
          <a:prstGeom prst="rect">
            <a:avLst/>
          </a:prstGeom>
        </p:spPr>
      </p:pic>
      <p:sp>
        <p:nvSpPr>
          <p:cNvPr id="15366" name="TextBox 15365"/>
          <p:cNvSpPr txBox="1"/>
          <p:nvPr/>
        </p:nvSpPr>
        <p:spPr>
          <a:xfrm>
            <a:off x="1024128" y="1316736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Cambria"/>
              </a:rPr>
              <a:t>The gap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30352" y="1810512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An onion lot’s grade decides whether it is bought and at which rate, yet it is judged by eye at each procurement centre. Two officers can grade the same lot differently — the source of disputes.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65760" y="2871216"/>
            <a:ext cx="3246120" cy="1591056"/>
          </a:xfrm>
          <a:prstGeom prst="roundRect">
            <a:avLst>
              <a:gd name="adj" fmla="val 5000"/>
            </a:avLst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Oval 15368"/>
          <p:cNvSpPr/>
          <p:nvPr/>
        </p:nvSpPr>
        <p:spPr>
          <a:xfrm>
            <a:off x="512064" y="2999232"/>
            <a:ext cx="420624" cy="420624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0" name="Picture 15369" descr="calendar_1F38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" y="3083356"/>
            <a:ext cx="252374" cy="252374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1024128" y="2999232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Cambria"/>
              </a:rPr>
              <a:t>Why it matters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530352" y="349300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Norms change mid-season: in 2026 NAFED’s minimum size moved to 45 mm in June and URS purchases stopped on 30 July. Manual grading keeps no record of WHY a lot got its grade.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365760" y="4553712"/>
            <a:ext cx="3246120" cy="1591056"/>
          </a:xfrm>
          <a:prstGeom prst="roundRect">
            <a:avLst>
              <a:gd name="adj" fmla="val 5000"/>
            </a:avLst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Oval 15373"/>
          <p:cNvSpPr/>
          <p:nvPr/>
        </p:nvSpPr>
        <p:spPr>
          <a:xfrm>
            <a:off x="512064" y="4681728"/>
            <a:ext cx="420624" cy="420624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5" name="Picture 15374" descr="phone_1F38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" y="4765852"/>
            <a:ext cx="252374" cy="252374"/>
          </a:xfrm>
          <a:prstGeom prst="rect">
            <a:avLst/>
          </a:prstGeom>
        </p:spPr>
      </p:pic>
      <p:sp>
        <p:nvSpPr>
          <p:cNvPr id="15376" name="TextBox 15375"/>
          <p:cNvSpPr txBox="1"/>
          <p:nvPr/>
        </p:nvSpPr>
        <p:spPr>
          <a:xfrm>
            <a:off x="1024128" y="4681728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Cambria"/>
              </a:rPr>
              <a:t>Our solution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530352" y="5175504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A phone app + server. The officer photographs the sample on a printed ArUco mat. AI outlines every onion, measures it in mm, flags damaged, rotten, sprouted and undersized bulbs, applies the current rule set and issues a fingerprinted report in seconds.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3840480" y="1188720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ONE PHOTO, EVERY ONION MEASURED AND LABELLED</a:t>
            </a:r>
          </a:p>
        </p:txBody>
      </p:sp>
      <p:pic>
        <p:nvPicPr>
          <p:cNvPr id="15379" name="Picture 15378" descr="st5_classify_rect.jpg"/>
          <p:cNvPicPr>
            <a:picLocks noChangeAspect="1"/>
          </p:cNvPicPr>
          <p:nvPr/>
        </p:nvPicPr>
        <p:blipFill>
          <a:blip r:embed="rId7"/>
          <a:srcRect l="719" r="719"/>
          <a:stretch>
            <a:fillRect/>
          </a:stretch>
        </p:blipFill>
        <p:spPr>
          <a:xfrm>
            <a:off x="3840480" y="1444752"/>
            <a:ext cx="4206240" cy="3017520"/>
          </a:xfrm>
          <a:prstGeom prst="rect">
            <a:avLst/>
          </a:prstGeom>
        </p:spPr>
      </p:pic>
      <p:sp>
        <p:nvSpPr>
          <p:cNvPr id="15380" name="Rectangle 15379"/>
          <p:cNvSpPr/>
          <p:nvPr/>
        </p:nvSpPr>
        <p:spPr>
          <a:xfrm>
            <a:off x="3840480" y="1444752"/>
            <a:ext cx="4206240" cy="3017520"/>
          </a:xfrm>
          <a:prstGeom prst="rect">
            <a:avLst/>
          </a:prstGeom>
          <a:noFill/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1" name="TextBox 15380"/>
          <p:cNvSpPr txBox="1"/>
          <p:nvPr/>
        </p:nvSpPr>
        <p:spPr>
          <a:xfrm>
            <a:off x="3840480" y="449884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5B6B7A"/>
                </a:solidFill>
                <a:latin typeface="Calibri"/>
              </a:rPr>
              <a:t>Prototype output — A Grade A · U undersized · S sprouted · D damaged · R rotten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3840480" y="4773168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OUTPUT PER LOT</a:t>
            </a:r>
          </a:p>
        </p:txBody>
      </p:sp>
      <p:sp>
        <p:nvSpPr>
          <p:cNvPr id="15383" name="Rectangle 15382"/>
          <p:cNvSpPr/>
          <p:nvPr/>
        </p:nvSpPr>
        <p:spPr>
          <a:xfrm>
            <a:off x="3840480" y="5001768"/>
            <a:ext cx="1051560" cy="329184"/>
          </a:xfrm>
          <a:prstGeom prst="rect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Grade A %</a:t>
            </a:r>
          </a:p>
        </p:txBody>
      </p:sp>
      <p:sp>
        <p:nvSpPr>
          <p:cNvPr id="15384" name="Rectangle 15383"/>
          <p:cNvSpPr/>
          <p:nvPr/>
        </p:nvSpPr>
        <p:spPr>
          <a:xfrm>
            <a:off x="4892040" y="5001768"/>
            <a:ext cx="1051560" cy="329184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URS %</a:t>
            </a:r>
          </a:p>
        </p:txBody>
      </p:sp>
      <p:sp>
        <p:nvSpPr>
          <p:cNvPr id="15385" name="Rectangle 15384"/>
          <p:cNvSpPr/>
          <p:nvPr/>
        </p:nvSpPr>
        <p:spPr>
          <a:xfrm>
            <a:off x="5943600" y="5001768"/>
            <a:ext cx="1051560" cy="32918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Reject %</a:t>
            </a:r>
          </a:p>
        </p:txBody>
      </p:sp>
      <p:sp>
        <p:nvSpPr>
          <p:cNvPr id="15386" name="Rectangle 15385"/>
          <p:cNvSpPr/>
          <p:nvPr/>
        </p:nvSpPr>
        <p:spPr>
          <a:xfrm>
            <a:off x="6995160" y="5001768"/>
            <a:ext cx="1051560" cy="329184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Officer review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3840480" y="539496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+ digital report</a:t>
            </a:r>
          </a:p>
        </p:txBody>
      </p:sp>
      <p:pic>
        <p:nvPicPr>
          <p:cNvPr id="15388" name="Picture 15387" descr="image_1F38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4696" y="5605272"/>
            <a:ext cx="292608" cy="292608"/>
          </a:xfrm>
          <a:prstGeom prst="rect">
            <a:avLst/>
          </a:prstGeom>
        </p:spPr>
      </p:pic>
      <p:sp>
        <p:nvSpPr>
          <p:cNvPr id="15389" name="TextBox 15388"/>
          <p:cNvSpPr txBox="1"/>
          <p:nvPr/>
        </p:nvSpPr>
        <p:spPr>
          <a:xfrm>
            <a:off x="3840480" y="5916168"/>
            <a:ext cx="701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annotated</a:t>
            </a:r>
          </a:p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photo</a:t>
            </a:r>
          </a:p>
        </p:txBody>
      </p:sp>
      <p:pic>
        <p:nvPicPr>
          <p:cNvPr id="15390" name="Picture 15389" descr="ruler_1F38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5736" y="5605272"/>
            <a:ext cx="292608" cy="292608"/>
          </a:xfrm>
          <a:prstGeom prst="rect">
            <a:avLst/>
          </a:prstGeom>
        </p:spPr>
      </p:pic>
      <p:sp>
        <p:nvSpPr>
          <p:cNvPr id="15391" name="TextBox 15390"/>
          <p:cNvSpPr txBox="1"/>
          <p:nvPr/>
        </p:nvSpPr>
        <p:spPr>
          <a:xfrm>
            <a:off x="4541520" y="5916168"/>
            <a:ext cx="701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size &amp; condition</a:t>
            </a:r>
          </a:p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of every onion</a:t>
            </a:r>
          </a:p>
        </p:txBody>
      </p:sp>
      <p:pic>
        <p:nvPicPr>
          <p:cNvPr id="15392" name="Picture 15391" descr="sliders_1F386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6776" y="5605272"/>
            <a:ext cx="292608" cy="292608"/>
          </a:xfrm>
          <a:prstGeom prst="rect">
            <a:avLst/>
          </a:prstGeom>
        </p:spPr>
      </p:pic>
      <p:sp>
        <p:nvSpPr>
          <p:cNvPr id="15393" name="TextBox 15392"/>
          <p:cNvSpPr txBox="1"/>
          <p:nvPr/>
        </p:nvSpPr>
        <p:spPr>
          <a:xfrm>
            <a:off x="5242560" y="5916168"/>
            <a:ext cx="701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rule-set</a:t>
            </a:r>
          </a:p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version</a:t>
            </a:r>
          </a:p>
        </p:txBody>
      </p:sp>
      <p:pic>
        <p:nvPicPr>
          <p:cNvPr id="15394" name="Picture 15393" descr="mappin_1F386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7815" y="5605272"/>
            <a:ext cx="292608" cy="292608"/>
          </a:xfrm>
          <a:prstGeom prst="rect">
            <a:avLst/>
          </a:prstGeom>
        </p:spPr>
      </p:pic>
      <p:sp>
        <p:nvSpPr>
          <p:cNvPr id="15395" name="TextBox 15394"/>
          <p:cNvSpPr txBox="1"/>
          <p:nvPr/>
        </p:nvSpPr>
        <p:spPr>
          <a:xfrm>
            <a:off x="5943600" y="5916168"/>
            <a:ext cx="701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time &amp;</a:t>
            </a:r>
          </a:p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GPS</a:t>
            </a:r>
          </a:p>
        </p:txBody>
      </p:sp>
      <p:pic>
        <p:nvPicPr>
          <p:cNvPr id="15396" name="Picture 15395" descr="fingerprint_1F386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8856" y="5605272"/>
            <a:ext cx="292608" cy="292608"/>
          </a:xfrm>
          <a:prstGeom prst="rect">
            <a:avLst/>
          </a:prstGeom>
        </p:spPr>
      </p:pic>
      <p:sp>
        <p:nvSpPr>
          <p:cNvPr id="15397" name="TextBox 15396"/>
          <p:cNvSpPr txBox="1"/>
          <p:nvPr/>
        </p:nvSpPr>
        <p:spPr>
          <a:xfrm>
            <a:off x="6644640" y="5916168"/>
            <a:ext cx="701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SHA-256</a:t>
            </a:r>
          </a:p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fingerprint</a:t>
            </a:r>
          </a:p>
        </p:txBody>
      </p:sp>
      <p:pic>
        <p:nvPicPr>
          <p:cNvPr id="15398" name="Picture 15397" descr="qr_1F386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9895" y="5605272"/>
            <a:ext cx="292608" cy="292608"/>
          </a:xfrm>
          <a:prstGeom prst="rect">
            <a:avLst/>
          </a:prstGeom>
        </p:spPr>
      </p:pic>
      <p:sp>
        <p:nvSpPr>
          <p:cNvPr id="15399" name="TextBox 15398"/>
          <p:cNvSpPr txBox="1"/>
          <p:nvPr/>
        </p:nvSpPr>
        <p:spPr>
          <a:xfrm>
            <a:off x="7345680" y="5916168"/>
            <a:ext cx="701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QR to</a:t>
            </a:r>
          </a:p>
          <a:p>
            <a:pPr algn="ctr">
              <a:lnSpc>
                <a:spcPct val="90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verify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8275320" y="118872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WHAT CHANGES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8275320" y="1417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3261E"/>
                </a:solidFill>
                <a:latin typeface="Calibri"/>
              </a:rPr>
              <a:t>Today (manual)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10241280" y="1417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E7B45"/>
                </a:solidFill>
                <a:latin typeface="Calibri"/>
              </a:rPr>
              <a:t>With EkMaap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8275320" y="1682496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4" name="Picture 15403" descr="eye_B3261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0183" y="1801368"/>
            <a:ext cx="219456" cy="219456"/>
          </a:xfrm>
          <a:prstGeom prst="rect">
            <a:avLst/>
          </a:prstGeom>
        </p:spPr>
      </p:pic>
      <p:sp>
        <p:nvSpPr>
          <p:cNvPr id="15405" name="TextBox 15404"/>
          <p:cNvSpPr txBox="1"/>
          <p:nvPr/>
        </p:nvSpPr>
        <p:spPr>
          <a:xfrm>
            <a:off x="8567928" y="1682496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B3261E"/>
                </a:solidFill>
                <a:latin typeface="Calibri"/>
              </a:rPr>
              <a:t>Grade judged by eye</a:t>
            </a:r>
          </a:p>
        </p:txBody>
      </p:sp>
      <p:sp>
        <p:nvSpPr>
          <p:cNvPr id="15406" name="Rectangle 15405"/>
          <p:cNvSpPr/>
          <p:nvPr/>
        </p:nvSpPr>
        <p:spPr>
          <a:xfrm>
            <a:off x="9875520" y="1883664"/>
            <a:ext cx="365760" cy="5486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7" name="Rounded Rectangle 15406"/>
          <p:cNvSpPr/>
          <p:nvPr/>
        </p:nvSpPr>
        <p:spPr>
          <a:xfrm>
            <a:off x="10241280" y="1682496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9525">
            <a:solidFill>
              <a:srgbClr val="7DB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8" name="Picture 15407" descr="camera_1E7B4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96144" y="1801368"/>
            <a:ext cx="219456" cy="219456"/>
          </a:xfrm>
          <a:prstGeom prst="rect">
            <a:avLst/>
          </a:prstGeom>
        </p:spPr>
      </p:pic>
      <p:sp>
        <p:nvSpPr>
          <p:cNvPr id="15409" name="TextBox 15408"/>
          <p:cNvSpPr txBox="1"/>
          <p:nvPr/>
        </p:nvSpPr>
        <p:spPr>
          <a:xfrm>
            <a:off x="10533888" y="1682496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1E7B45"/>
                </a:solidFill>
                <a:latin typeface="Calibri"/>
              </a:rPr>
              <a:t>Grade computed from the photo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8275320" y="2212848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1" name="Picture 15410" descr="eye_B3261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0183" y="2331720"/>
            <a:ext cx="219456" cy="219456"/>
          </a:xfrm>
          <a:prstGeom prst="rect">
            <a:avLst/>
          </a:prstGeom>
        </p:spPr>
      </p:pic>
      <p:sp>
        <p:nvSpPr>
          <p:cNvPr id="15412" name="TextBox 15411"/>
          <p:cNvSpPr txBox="1"/>
          <p:nvPr/>
        </p:nvSpPr>
        <p:spPr>
          <a:xfrm>
            <a:off x="8567928" y="2212848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B3261E"/>
                </a:solidFill>
                <a:latin typeface="Calibri"/>
              </a:rPr>
              <a:t>Size judged visually</a:t>
            </a:r>
          </a:p>
        </p:txBody>
      </p:sp>
      <p:sp>
        <p:nvSpPr>
          <p:cNvPr id="15413" name="Rectangle 15412"/>
          <p:cNvSpPr/>
          <p:nvPr/>
        </p:nvSpPr>
        <p:spPr>
          <a:xfrm>
            <a:off x="9875520" y="2414016"/>
            <a:ext cx="365760" cy="5486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4" name="Rounded Rectangle 15413"/>
          <p:cNvSpPr/>
          <p:nvPr/>
        </p:nvSpPr>
        <p:spPr>
          <a:xfrm>
            <a:off x="10241280" y="2212848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9525">
            <a:solidFill>
              <a:srgbClr val="7DB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5" name="Picture 15414" descr="ruler_1E7B4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96144" y="2331720"/>
            <a:ext cx="219456" cy="219456"/>
          </a:xfrm>
          <a:prstGeom prst="rect">
            <a:avLst/>
          </a:prstGeom>
        </p:spPr>
      </p:pic>
      <p:sp>
        <p:nvSpPr>
          <p:cNvPr id="15416" name="TextBox 15415"/>
          <p:cNvSpPr txBox="1"/>
          <p:nvPr/>
        </p:nvSpPr>
        <p:spPr>
          <a:xfrm>
            <a:off x="10533888" y="2212848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1E7B45"/>
                </a:solidFill>
                <a:latin typeface="Calibri"/>
              </a:rPr>
              <a:t>Size in mm, tilt-corrected</a:t>
            </a:r>
          </a:p>
        </p:txBody>
      </p:sp>
      <p:sp>
        <p:nvSpPr>
          <p:cNvPr id="15417" name="Rounded Rectangle 15416"/>
          <p:cNvSpPr/>
          <p:nvPr/>
        </p:nvSpPr>
        <p:spPr>
          <a:xfrm>
            <a:off x="8275320" y="274320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8" name="Picture 15417" descr="x_B3261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0183" y="2862072"/>
            <a:ext cx="219456" cy="219456"/>
          </a:xfrm>
          <a:prstGeom prst="rect">
            <a:avLst/>
          </a:prstGeom>
        </p:spPr>
      </p:pic>
      <p:sp>
        <p:nvSpPr>
          <p:cNvPr id="15419" name="TextBox 15418"/>
          <p:cNvSpPr txBox="1"/>
          <p:nvPr/>
        </p:nvSpPr>
        <p:spPr>
          <a:xfrm>
            <a:off x="8567928" y="274320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B3261E"/>
                </a:solidFill>
                <a:latin typeface="Calibri"/>
              </a:rPr>
              <a:t>No record of why</a:t>
            </a:r>
          </a:p>
        </p:txBody>
      </p:sp>
      <p:sp>
        <p:nvSpPr>
          <p:cNvPr id="15420" name="Rectangle 15419"/>
          <p:cNvSpPr/>
          <p:nvPr/>
        </p:nvSpPr>
        <p:spPr>
          <a:xfrm>
            <a:off x="9875520" y="2944368"/>
            <a:ext cx="365760" cy="5486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1" name="Rounded Rectangle 15420"/>
          <p:cNvSpPr/>
          <p:nvPr/>
        </p:nvSpPr>
        <p:spPr>
          <a:xfrm>
            <a:off x="10241280" y="274320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9525">
            <a:solidFill>
              <a:srgbClr val="7DB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2" name="Picture 15421" descr="database_1E7B4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96144" y="2862072"/>
            <a:ext cx="219456" cy="219456"/>
          </a:xfrm>
          <a:prstGeom prst="rect">
            <a:avLst/>
          </a:prstGeom>
        </p:spPr>
      </p:pic>
      <p:sp>
        <p:nvSpPr>
          <p:cNvPr id="15423" name="TextBox 15422"/>
          <p:cNvSpPr txBox="1"/>
          <p:nvPr/>
        </p:nvSpPr>
        <p:spPr>
          <a:xfrm>
            <a:off x="10533888" y="274320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1E7B45"/>
                </a:solidFill>
                <a:latin typeface="Calibri"/>
              </a:rPr>
              <a:t>Every onion’s result stored</a:t>
            </a:r>
          </a:p>
        </p:txBody>
      </p:sp>
      <p:sp>
        <p:nvSpPr>
          <p:cNvPr id="15424" name="Rounded Rectangle 15423"/>
          <p:cNvSpPr/>
          <p:nvPr/>
        </p:nvSpPr>
        <p:spPr>
          <a:xfrm>
            <a:off x="8275320" y="3273552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5" name="Picture 15424" descr="alert_B3261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30183" y="3392424"/>
            <a:ext cx="219456" cy="219456"/>
          </a:xfrm>
          <a:prstGeom prst="rect">
            <a:avLst/>
          </a:prstGeom>
        </p:spPr>
      </p:pic>
      <p:sp>
        <p:nvSpPr>
          <p:cNvPr id="15426" name="TextBox 15425"/>
          <p:cNvSpPr txBox="1"/>
          <p:nvPr/>
        </p:nvSpPr>
        <p:spPr>
          <a:xfrm>
            <a:off x="8567928" y="3273552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B3261E"/>
                </a:solidFill>
                <a:latin typeface="Calibri"/>
              </a:rPr>
              <a:t>New norms applied unevenly</a:t>
            </a:r>
          </a:p>
        </p:txBody>
      </p:sp>
      <p:sp>
        <p:nvSpPr>
          <p:cNvPr id="15427" name="Rectangle 15426"/>
          <p:cNvSpPr/>
          <p:nvPr/>
        </p:nvSpPr>
        <p:spPr>
          <a:xfrm>
            <a:off x="9875520" y="3474720"/>
            <a:ext cx="365760" cy="5486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8" name="Rounded Rectangle 15427"/>
          <p:cNvSpPr/>
          <p:nvPr/>
        </p:nvSpPr>
        <p:spPr>
          <a:xfrm>
            <a:off x="10241280" y="3273552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9525">
            <a:solidFill>
              <a:srgbClr val="7DB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9" name="Picture 15428" descr="sliders_1E7B4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96144" y="3392424"/>
            <a:ext cx="219456" cy="219456"/>
          </a:xfrm>
          <a:prstGeom prst="rect">
            <a:avLst/>
          </a:prstGeom>
        </p:spPr>
      </p:pic>
      <p:sp>
        <p:nvSpPr>
          <p:cNvPr id="15430" name="TextBox 15429"/>
          <p:cNvSpPr txBox="1"/>
          <p:nvPr/>
        </p:nvSpPr>
        <p:spPr>
          <a:xfrm>
            <a:off x="10533888" y="3273552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1E7B45"/>
                </a:solidFill>
                <a:latin typeface="Calibri"/>
              </a:rPr>
              <a:t>One versioned rule set</a:t>
            </a:r>
          </a:p>
        </p:txBody>
      </p:sp>
      <p:sp>
        <p:nvSpPr>
          <p:cNvPr id="15431" name="Rounded Rectangle 15430"/>
          <p:cNvSpPr/>
          <p:nvPr/>
        </p:nvSpPr>
        <p:spPr>
          <a:xfrm>
            <a:off x="8275320" y="3803904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32" name="Picture 15431" descr="wordvsword_B3261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30183" y="3922776"/>
            <a:ext cx="219456" cy="219456"/>
          </a:xfrm>
          <a:prstGeom prst="rect">
            <a:avLst/>
          </a:prstGeom>
        </p:spPr>
      </p:pic>
      <p:sp>
        <p:nvSpPr>
          <p:cNvPr id="15433" name="TextBox 15432"/>
          <p:cNvSpPr txBox="1"/>
          <p:nvPr/>
        </p:nvSpPr>
        <p:spPr>
          <a:xfrm>
            <a:off x="8567928" y="3803904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B3261E"/>
                </a:solidFill>
                <a:latin typeface="Calibri"/>
              </a:rPr>
              <a:t>Dispute is word vs word</a:t>
            </a:r>
          </a:p>
        </p:txBody>
      </p:sp>
      <p:sp>
        <p:nvSpPr>
          <p:cNvPr id="15434" name="Rectangle 15433"/>
          <p:cNvSpPr/>
          <p:nvPr/>
        </p:nvSpPr>
        <p:spPr>
          <a:xfrm>
            <a:off x="9875520" y="4005072"/>
            <a:ext cx="365760" cy="5486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5" name="Rounded Rectangle 15434"/>
          <p:cNvSpPr/>
          <p:nvPr/>
        </p:nvSpPr>
        <p:spPr>
          <a:xfrm>
            <a:off x="10241280" y="3803904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9525">
            <a:solidFill>
              <a:srgbClr val="7DB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36" name="Picture 15435" descr="fingerprint_1E7B45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96144" y="3922776"/>
            <a:ext cx="219456" cy="219456"/>
          </a:xfrm>
          <a:prstGeom prst="rect">
            <a:avLst/>
          </a:prstGeom>
        </p:spPr>
      </p:pic>
      <p:sp>
        <p:nvSpPr>
          <p:cNvPr id="15437" name="TextBox 15436"/>
          <p:cNvSpPr txBox="1"/>
          <p:nvPr/>
        </p:nvSpPr>
        <p:spPr>
          <a:xfrm>
            <a:off x="10533888" y="3803904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1E7B45"/>
                </a:solidFill>
                <a:latin typeface="Calibri"/>
              </a:rPr>
              <a:t>Photo + fingerprint as evidence</a:t>
            </a:r>
          </a:p>
        </p:txBody>
      </p:sp>
      <p:sp>
        <p:nvSpPr>
          <p:cNvPr id="15438" name="Rounded Rectangle 15437"/>
          <p:cNvSpPr/>
          <p:nvPr/>
        </p:nvSpPr>
        <p:spPr>
          <a:xfrm>
            <a:off x="8275320" y="4334256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39" name="Picture 15438" descr="search_B3261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30183" y="4453128"/>
            <a:ext cx="219456" cy="219456"/>
          </a:xfrm>
          <a:prstGeom prst="rect">
            <a:avLst/>
          </a:prstGeom>
        </p:spPr>
      </p:pic>
      <p:sp>
        <p:nvSpPr>
          <p:cNvPr id="15440" name="TextBox 15439"/>
          <p:cNvSpPr txBox="1"/>
          <p:nvPr/>
        </p:nvSpPr>
        <p:spPr>
          <a:xfrm>
            <a:off x="8567928" y="4334256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B3261E"/>
                </a:solidFill>
                <a:latin typeface="Calibri"/>
              </a:rPr>
              <a:t>Unsure cases decided silently</a:t>
            </a:r>
          </a:p>
        </p:txBody>
      </p:sp>
      <p:sp>
        <p:nvSpPr>
          <p:cNvPr id="15441" name="Rectangle 15440"/>
          <p:cNvSpPr/>
          <p:nvPr/>
        </p:nvSpPr>
        <p:spPr>
          <a:xfrm>
            <a:off x="9875520" y="4535424"/>
            <a:ext cx="365760" cy="5486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2" name="Rounded Rectangle 15441"/>
          <p:cNvSpPr/>
          <p:nvPr/>
        </p:nvSpPr>
        <p:spPr>
          <a:xfrm>
            <a:off x="10241280" y="4334256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9525">
            <a:solidFill>
              <a:srgbClr val="7DB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43" name="Picture 15442" descr="personcheck_1E7B4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96144" y="4453128"/>
            <a:ext cx="219456" cy="219456"/>
          </a:xfrm>
          <a:prstGeom prst="rect">
            <a:avLst/>
          </a:prstGeom>
        </p:spPr>
      </p:pic>
      <p:sp>
        <p:nvSpPr>
          <p:cNvPr id="15444" name="TextBox 15443"/>
          <p:cNvSpPr txBox="1"/>
          <p:nvPr/>
        </p:nvSpPr>
        <p:spPr>
          <a:xfrm>
            <a:off x="10533888" y="4334256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1E7B45"/>
                </a:solidFill>
                <a:latin typeface="Calibri"/>
              </a:rPr>
              <a:t>Unsure onions go to the officer</a:t>
            </a:r>
          </a:p>
        </p:txBody>
      </p:sp>
      <p:sp>
        <p:nvSpPr>
          <p:cNvPr id="15445" name="TextBox 15444"/>
          <p:cNvSpPr txBox="1"/>
          <p:nvPr/>
        </p:nvSpPr>
        <p:spPr>
          <a:xfrm>
            <a:off x="8275320" y="4919472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SIX LABELS PER ONION</a:t>
            </a:r>
          </a:p>
        </p:txBody>
      </p:sp>
      <p:pic>
        <p:nvPicPr>
          <p:cNvPr id="15446" name="Picture 15445" descr="on_A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75320" y="5157216"/>
            <a:ext cx="420624" cy="420624"/>
          </a:xfrm>
          <a:prstGeom prst="ellipse">
            <a:avLst/>
          </a:prstGeom>
        </p:spPr>
      </p:pic>
      <p:sp>
        <p:nvSpPr>
          <p:cNvPr id="15447" name="Oval 15446"/>
          <p:cNvSpPr/>
          <p:nvPr/>
        </p:nvSpPr>
        <p:spPr>
          <a:xfrm>
            <a:off x="8275320" y="5157216"/>
            <a:ext cx="420624" cy="420624"/>
          </a:xfrm>
          <a:prstGeom prst="ellipse">
            <a:avLst/>
          </a:prstGeom>
          <a:noFill/>
          <a:ln w="28575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8" name="Oval 15447"/>
          <p:cNvSpPr/>
          <p:nvPr/>
        </p:nvSpPr>
        <p:spPr>
          <a:xfrm>
            <a:off x="8549640" y="5431536"/>
            <a:ext cx="182880" cy="182880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5449" name="TextBox 15448"/>
          <p:cNvSpPr txBox="1"/>
          <p:nvPr/>
        </p:nvSpPr>
        <p:spPr>
          <a:xfrm>
            <a:off x="8750808" y="5175503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2A36"/>
                </a:solidFill>
                <a:latin typeface="Calibri"/>
              </a:rPr>
              <a:t>Grade A</a:t>
            </a:r>
          </a:p>
        </p:txBody>
      </p:sp>
      <p:sp>
        <p:nvSpPr>
          <p:cNvPr id="15450" name="TextBox 15449"/>
          <p:cNvSpPr txBox="1"/>
          <p:nvPr/>
        </p:nvSpPr>
        <p:spPr>
          <a:xfrm>
            <a:off x="8750808" y="5349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sound, above size limit</a:t>
            </a:r>
          </a:p>
        </p:txBody>
      </p:sp>
      <p:pic>
        <p:nvPicPr>
          <p:cNvPr id="15451" name="Picture 15450" descr="on_U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82328" y="5157216"/>
            <a:ext cx="420624" cy="420624"/>
          </a:xfrm>
          <a:prstGeom prst="ellipse">
            <a:avLst/>
          </a:prstGeom>
        </p:spPr>
      </p:pic>
      <p:sp>
        <p:nvSpPr>
          <p:cNvPr id="15452" name="Oval 15451"/>
          <p:cNvSpPr/>
          <p:nvPr/>
        </p:nvSpPr>
        <p:spPr>
          <a:xfrm>
            <a:off x="9482328" y="5157216"/>
            <a:ext cx="420624" cy="420624"/>
          </a:xfrm>
          <a:prstGeom prst="ellipse">
            <a:avLst/>
          </a:prstGeom>
          <a:noFill/>
          <a:ln w="285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53" name="Oval 15452"/>
          <p:cNvSpPr/>
          <p:nvPr/>
        </p:nvSpPr>
        <p:spPr>
          <a:xfrm>
            <a:off x="9756648" y="5431536"/>
            <a:ext cx="182880" cy="18288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mbria"/>
              </a:rPr>
              <a:t>U</a:t>
            </a:r>
          </a:p>
        </p:txBody>
      </p:sp>
      <p:sp>
        <p:nvSpPr>
          <p:cNvPr id="15454" name="TextBox 15453"/>
          <p:cNvSpPr txBox="1"/>
          <p:nvPr/>
        </p:nvSpPr>
        <p:spPr>
          <a:xfrm>
            <a:off x="9957816" y="5175503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2A36"/>
                </a:solidFill>
                <a:latin typeface="Calibri"/>
              </a:rPr>
              <a:t>Undersized</a:t>
            </a:r>
          </a:p>
        </p:txBody>
      </p:sp>
      <p:sp>
        <p:nvSpPr>
          <p:cNvPr id="15455" name="TextBox 15454"/>
          <p:cNvSpPr txBox="1"/>
          <p:nvPr/>
        </p:nvSpPr>
        <p:spPr>
          <a:xfrm>
            <a:off x="9957816" y="5349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below size limit</a:t>
            </a:r>
          </a:p>
        </p:txBody>
      </p:sp>
      <p:pic>
        <p:nvPicPr>
          <p:cNvPr id="15456" name="Picture 15455" descr="on_S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89336" y="5157216"/>
            <a:ext cx="420624" cy="420624"/>
          </a:xfrm>
          <a:prstGeom prst="ellipse">
            <a:avLst/>
          </a:prstGeom>
        </p:spPr>
      </p:pic>
      <p:sp>
        <p:nvSpPr>
          <p:cNvPr id="15457" name="Oval 15456"/>
          <p:cNvSpPr/>
          <p:nvPr/>
        </p:nvSpPr>
        <p:spPr>
          <a:xfrm>
            <a:off x="10689336" y="5157216"/>
            <a:ext cx="420624" cy="420624"/>
          </a:xfrm>
          <a:prstGeom prst="ellipse">
            <a:avLst/>
          </a:prstGeom>
          <a:noFill/>
          <a:ln w="28575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58" name="Oval 15457"/>
          <p:cNvSpPr/>
          <p:nvPr/>
        </p:nvSpPr>
        <p:spPr>
          <a:xfrm>
            <a:off x="10963656" y="5431536"/>
            <a:ext cx="182880" cy="182880"/>
          </a:xfrm>
          <a:prstGeom prst="ellipse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mbria"/>
              </a:rPr>
              <a:t>S</a:t>
            </a:r>
          </a:p>
        </p:txBody>
      </p:sp>
      <p:sp>
        <p:nvSpPr>
          <p:cNvPr id="15459" name="TextBox 15458"/>
          <p:cNvSpPr txBox="1"/>
          <p:nvPr/>
        </p:nvSpPr>
        <p:spPr>
          <a:xfrm>
            <a:off x="11164824" y="5175503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2A36"/>
                </a:solidFill>
                <a:latin typeface="Calibri"/>
              </a:rPr>
              <a:t>Sprouted</a:t>
            </a:r>
          </a:p>
        </p:txBody>
      </p:sp>
      <p:sp>
        <p:nvSpPr>
          <p:cNvPr id="15460" name="TextBox 15459"/>
          <p:cNvSpPr txBox="1"/>
          <p:nvPr/>
        </p:nvSpPr>
        <p:spPr>
          <a:xfrm>
            <a:off x="11164824" y="5349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shoot visible</a:t>
            </a:r>
          </a:p>
        </p:txBody>
      </p:sp>
      <p:pic>
        <p:nvPicPr>
          <p:cNvPr id="15461" name="Picture 15460" descr="on_D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75320" y="5705855"/>
            <a:ext cx="420624" cy="420624"/>
          </a:xfrm>
          <a:prstGeom prst="ellipse">
            <a:avLst/>
          </a:prstGeom>
        </p:spPr>
      </p:pic>
      <p:sp>
        <p:nvSpPr>
          <p:cNvPr id="15462" name="Oval 15461"/>
          <p:cNvSpPr/>
          <p:nvPr/>
        </p:nvSpPr>
        <p:spPr>
          <a:xfrm>
            <a:off x="8275320" y="5705855"/>
            <a:ext cx="420624" cy="420624"/>
          </a:xfrm>
          <a:prstGeom prst="ellipse">
            <a:avLst/>
          </a:prstGeom>
          <a:noFill/>
          <a:ln w="28575">
            <a:solidFill>
              <a:srgbClr val="D06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63" name="Oval 15462"/>
          <p:cNvSpPr/>
          <p:nvPr/>
        </p:nvSpPr>
        <p:spPr>
          <a:xfrm>
            <a:off x="8549640" y="5980175"/>
            <a:ext cx="182880" cy="182880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5464" name="TextBox 15463"/>
          <p:cNvSpPr txBox="1"/>
          <p:nvPr/>
        </p:nvSpPr>
        <p:spPr>
          <a:xfrm>
            <a:off x="8750808" y="5724143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2A36"/>
                </a:solidFill>
                <a:latin typeface="Calibri"/>
              </a:rPr>
              <a:t>Damaged</a:t>
            </a:r>
          </a:p>
        </p:txBody>
      </p:sp>
      <p:sp>
        <p:nvSpPr>
          <p:cNvPr id="15465" name="TextBox 15464"/>
          <p:cNvSpPr txBox="1"/>
          <p:nvPr/>
        </p:nvSpPr>
        <p:spPr>
          <a:xfrm>
            <a:off x="8750808" y="589787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cut, split, peeled</a:t>
            </a:r>
          </a:p>
        </p:txBody>
      </p:sp>
      <p:pic>
        <p:nvPicPr>
          <p:cNvPr id="15466" name="Picture 15465" descr="on_R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82328" y="5705855"/>
            <a:ext cx="420624" cy="420624"/>
          </a:xfrm>
          <a:prstGeom prst="ellipse">
            <a:avLst/>
          </a:prstGeom>
        </p:spPr>
      </p:pic>
      <p:sp>
        <p:nvSpPr>
          <p:cNvPr id="15467" name="Oval 15466"/>
          <p:cNvSpPr/>
          <p:nvPr/>
        </p:nvSpPr>
        <p:spPr>
          <a:xfrm>
            <a:off x="9482328" y="5705855"/>
            <a:ext cx="420624" cy="420624"/>
          </a:xfrm>
          <a:prstGeom prst="ellipse">
            <a:avLst/>
          </a:prstGeom>
          <a:noFill/>
          <a:ln w="285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68" name="Oval 15467"/>
          <p:cNvSpPr/>
          <p:nvPr/>
        </p:nvSpPr>
        <p:spPr>
          <a:xfrm>
            <a:off x="9756648" y="5980175"/>
            <a:ext cx="182880" cy="18288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mbria"/>
              </a:rPr>
              <a:t>R</a:t>
            </a:r>
          </a:p>
        </p:txBody>
      </p:sp>
      <p:sp>
        <p:nvSpPr>
          <p:cNvPr id="15469" name="TextBox 15468"/>
          <p:cNvSpPr txBox="1"/>
          <p:nvPr/>
        </p:nvSpPr>
        <p:spPr>
          <a:xfrm>
            <a:off x="9957816" y="5724143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2A36"/>
                </a:solidFill>
                <a:latin typeface="Calibri"/>
              </a:rPr>
              <a:t>Rotten</a:t>
            </a:r>
          </a:p>
        </p:txBody>
      </p:sp>
      <p:sp>
        <p:nvSpPr>
          <p:cNvPr id="15470" name="TextBox 15469"/>
          <p:cNvSpPr txBox="1"/>
          <p:nvPr/>
        </p:nvSpPr>
        <p:spPr>
          <a:xfrm>
            <a:off x="9957816" y="589787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mould, soft rot</a:t>
            </a:r>
          </a:p>
        </p:txBody>
      </p:sp>
      <p:sp>
        <p:nvSpPr>
          <p:cNvPr id="15471" name="Oval 15470"/>
          <p:cNvSpPr/>
          <p:nvPr/>
        </p:nvSpPr>
        <p:spPr>
          <a:xfrm>
            <a:off x="10689336" y="5705855"/>
            <a:ext cx="420624" cy="420624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72" name="Picture 15471" descr="search_FFFFFF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790285" y="5806805"/>
            <a:ext cx="218724" cy="218724"/>
          </a:xfrm>
          <a:prstGeom prst="rect">
            <a:avLst/>
          </a:prstGeom>
        </p:spPr>
      </p:pic>
      <p:sp>
        <p:nvSpPr>
          <p:cNvPr id="15473" name="Oval 15472"/>
          <p:cNvSpPr/>
          <p:nvPr/>
        </p:nvSpPr>
        <p:spPr>
          <a:xfrm>
            <a:off x="10963656" y="5980175"/>
            <a:ext cx="182880" cy="182880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5474" name="TextBox 15473"/>
          <p:cNvSpPr txBox="1"/>
          <p:nvPr/>
        </p:nvSpPr>
        <p:spPr>
          <a:xfrm>
            <a:off x="11164824" y="5724143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2A36"/>
                </a:solidFill>
                <a:latin typeface="Calibri"/>
              </a:rPr>
              <a:t>Needs review</a:t>
            </a:r>
          </a:p>
        </p:txBody>
      </p:sp>
      <p:sp>
        <p:nvSpPr>
          <p:cNvPr id="15475" name="TextBox 15474"/>
          <p:cNvSpPr txBox="1"/>
          <p:nvPr/>
        </p:nvSpPr>
        <p:spPr>
          <a:xfrm>
            <a:off x="11164824" y="589787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model unsure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55279" cy="713232"/>
          </a:xfrm>
        </p:spPr>
        <p:txBody>
          <a:bodyPr anchor="ctr"/>
          <a:lstStyle/>
          <a:p>
            <a:pPr eaLnBrk="1" hangingPunct="1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01168"/>
            <a:ext cx="1417320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100">
                <a:solidFill>
                  <a:srgbClr val="000000"/>
                </a:solidFill>
                <a:latin typeface="Calibri"/>
              </a:rPr>
              <a:t>StrataCadastre_KP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326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PROCESSING PIPELINE</a:t>
            </a:r>
          </a:p>
        </p:txBody>
      </p:sp>
      <p:sp>
        <p:nvSpPr>
          <p:cNvPr id="17411" name="Pentagon 17410"/>
          <p:cNvSpPr/>
          <p:nvPr/>
        </p:nvSpPr>
        <p:spPr>
          <a:xfrm>
            <a:off x="365760" y="1170432"/>
            <a:ext cx="2011680" cy="896112"/>
          </a:xfrm>
          <a:prstGeom prst="homePlat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38912" y="1170432"/>
            <a:ext cx="16459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CAPTURE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Phone photo of the
sample on the mat</a:t>
            </a:r>
          </a:p>
        </p:txBody>
      </p:sp>
      <p:sp>
        <p:nvSpPr>
          <p:cNvPr id="17413" name="Chevron 17412"/>
          <p:cNvSpPr/>
          <p:nvPr/>
        </p:nvSpPr>
        <p:spPr>
          <a:xfrm>
            <a:off x="2258568" y="1170432"/>
            <a:ext cx="2011680" cy="896112"/>
          </a:xfrm>
          <a:prstGeom prst="chevron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2532888" y="1170432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CALIBRATE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4 ArUco markers →
mm grid, tilt removed</a:t>
            </a:r>
          </a:p>
        </p:txBody>
      </p:sp>
      <p:sp>
        <p:nvSpPr>
          <p:cNvPr id="17415" name="Chevron 17414"/>
          <p:cNvSpPr/>
          <p:nvPr/>
        </p:nvSpPr>
        <p:spPr>
          <a:xfrm>
            <a:off x="4151376" y="1170432"/>
            <a:ext cx="2011680" cy="896112"/>
          </a:xfrm>
          <a:prstGeom prst="chevron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4425696" y="1170432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ML outlines each onion;
touching ones split</a:t>
            </a:r>
          </a:p>
        </p:txBody>
      </p:sp>
      <p:sp>
        <p:nvSpPr>
          <p:cNvPr id="17417" name="Chevron 17416"/>
          <p:cNvSpPr/>
          <p:nvPr/>
        </p:nvSpPr>
        <p:spPr>
          <a:xfrm>
            <a:off x="6044184" y="1170432"/>
            <a:ext cx="2011680" cy="896112"/>
          </a:xfrm>
          <a:prstGeom prst="chevron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6318504" y="1170432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MEASURE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Widest diameter in mm,
ruler-calibrated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7936992" y="1170432"/>
            <a:ext cx="2011680" cy="896112"/>
          </a:xfrm>
          <a:prstGeom prst="chevron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8211312" y="1170432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CLASSIFY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ML condition + confidence;
unsure → officer</a:t>
            </a:r>
          </a:p>
        </p:txBody>
      </p:sp>
      <p:sp>
        <p:nvSpPr>
          <p:cNvPr id="17421" name="Chevron 17420"/>
          <p:cNvSpPr/>
          <p:nvPr/>
        </p:nvSpPr>
        <p:spPr>
          <a:xfrm>
            <a:off x="9829800" y="1170432"/>
            <a:ext cx="2011680" cy="896112"/>
          </a:xfrm>
          <a:prstGeom prst="chevron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10104120" y="1170432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GRADE &amp; REPORT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Rule set → Grade A / URS %
· fingerprinted PDF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65760" y="2240280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SYSTEM ARCHITECTURE — LAYERED STACK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365760" y="2468880"/>
            <a:ext cx="1371600" cy="310896"/>
          </a:xfrm>
          <a:prstGeom prst="rect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514600"/>
            <a:ext cx="219456" cy="219456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685800" y="2468880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spc="6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1737360" y="2468880"/>
            <a:ext cx="4434840" cy="310896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Officer web app (PWA) · phone camera · review screen · no install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65760" y="2871216"/>
            <a:ext cx="1371600" cy="310896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9" name="Picture 17428" descr="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916936"/>
            <a:ext cx="219456" cy="219456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685800" y="2871216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spc="6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1737360" y="2871216"/>
            <a:ext cx="4434840" cy="310896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FastAPI · REST API with role-based access (officer / supervisor / labeller)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365760" y="3273552"/>
            <a:ext cx="1371600" cy="310896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319272"/>
            <a:ext cx="219456" cy="219456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685800" y="3273552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spc="6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1737360" y="3273552"/>
            <a:ext cx="4434840" cy="310896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PostgreSQL · append-only analyses, reviews, reports, audit log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365760" y="3675888"/>
            <a:ext cx="1371600" cy="31089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7" name="Picture 17436" descr="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721608"/>
            <a:ext cx="219456" cy="219456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685800" y="3675888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spc="60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1737360" y="3675888"/>
            <a:ext cx="4434840" cy="310896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OpenCV ArUco homography · scikit-image watershed · moment-based sizing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365760" y="4078224"/>
            <a:ext cx="1371600" cy="310896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cpu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4123944"/>
            <a:ext cx="219456" cy="219456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685800" y="4078224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spc="60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1737360" y="4078224"/>
            <a:ext cx="4434840" cy="310896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Trainable pixel segmenter + condition classifier (scikit-learn) · YOLO-seg on GPU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365760" y="4480560"/>
            <a:ext cx="1371600" cy="310896"/>
          </a:xfrm>
          <a:prstGeom prst="rect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5" name="Picture 17444" descr="sliders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4526280"/>
            <a:ext cx="219456" cy="219456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685800" y="4480560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spc="60">
                <a:solidFill>
                  <a:srgbClr val="FFFFFF"/>
                </a:solidFill>
                <a:latin typeface="Calibri"/>
              </a:rPr>
              <a:t>RULES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1737360" y="4480560"/>
            <a:ext cx="4434840" cy="310896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Versioned rule sets: size limits, condition → grade; editable per circular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365760" y="4882896"/>
            <a:ext cx="1371600" cy="310896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report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" y="4928616"/>
            <a:ext cx="219456" cy="219456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685800" y="4882896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spc="6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1737360" y="4882896"/>
            <a:ext cx="4434840" cy="310896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ReportLab PDF · SHA-256 fingerprint · QR · public verify endpoint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6446520" y="2240280"/>
            <a:ext cx="5394960" cy="3163824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6629400" y="23317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1F3864"/>
                </a:solidFill>
                <a:latin typeface="Calibri"/>
              </a:rPr>
              <a:t>SEE IT RUNNING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6629400" y="2651760"/>
            <a:ext cx="37947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6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Oval 17454"/>
          <p:cNvSpPr/>
          <p:nvPr/>
        </p:nvSpPr>
        <p:spPr>
          <a:xfrm>
            <a:off x="6702552" y="2724912"/>
            <a:ext cx="365760" cy="365760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6" name="Picture 17455" descr="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798064"/>
            <a:ext cx="219456" cy="219456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7141464" y="2688336"/>
            <a:ext cx="3191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60">
                <a:solidFill>
                  <a:srgbClr val="D0621B"/>
                </a:solidFill>
                <a:latin typeface="Calibri"/>
              </a:rPr>
              <a:t>WORKING PROTOTYPE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7141464" y="2880360"/>
            <a:ext cx="3191256" cy="228600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900" b="1" i="0" u="sng">
                <a:solidFill>
                  <a:srgbClr val="1565C0"/>
                </a:solidFill>
                <a:latin typeface="Calibri"/>
              </a:rPr>
              <a:t>Click here to see the working prototype.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6629400" y="3227832"/>
            <a:ext cx="37947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Oval 17459"/>
          <p:cNvSpPr/>
          <p:nvPr/>
        </p:nvSpPr>
        <p:spPr>
          <a:xfrm>
            <a:off x="6702552" y="3300984"/>
            <a:ext cx="365760" cy="365760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1" name="Picture 17460" descr="repo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5704" y="3374136"/>
            <a:ext cx="219456" cy="219456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7141464" y="3264408"/>
            <a:ext cx="3191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60">
                <a:solidFill>
                  <a:srgbClr val="6A3FB5"/>
                </a:solidFill>
                <a:latin typeface="Calibri"/>
              </a:rPr>
              <a:t>GITHUB REPO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7141464" y="3456432"/>
            <a:ext cx="3191256" cy="228600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900" b="1" i="0" u="sng">
                <a:solidFill>
                  <a:srgbClr val="1565C0"/>
                </a:solidFill>
                <a:latin typeface="Calibri"/>
              </a:rPr>
              <a:t>Click here to see the GitHub repository.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6629400" y="3803904"/>
            <a:ext cx="37947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Oval 17464"/>
          <p:cNvSpPr/>
          <p:nvPr/>
        </p:nvSpPr>
        <p:spPr>
          <a:xfrm>
            <a:off x="6702552" y="3877056"/>
            <a:ext cx="365760" cy="36576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6" name="Picture 17465" descr="video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5704" y="3950208"/>
            <a:ext cx="219456" cy="219456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7141464" y="3840480"/>
            <a:ext cx="3191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60">
                <a:solidFill>
                  <a:srgbClr val="B3261E"/>
                </a:solidFill>
                <a:latin typeface="Calibri"/>
              </a:rPr>
              <a:t>DEMO VIDEO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7141464" y="4032504"/>
            <a:ext cx="3191256" cy="228600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900" b="1" i="0" u="sng">
                <a:solidFill>
                  <a:srgbClr val="1565C0"/>
                </a:solidFill>
                <a:latin typeface="Calibri"/>
              </a:rPr>
              <a:t>Click here to see the demo video.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6629400" y="436168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 i="0">
                <a:solidFill>
                  <a:srgbClr val="1F3864"/>
                </a:solidFill>
                <a:latin typeface="Calibri"/>
              </a:rPr>
              <a:t>Built: </a:t>
            </a:r>
            <a:r>
              <a:rPr sz="750" b="0" i="0">
                <a:solidFill>
                  <a:srgbClr val="1E2A36"/>
                </a:solidFill>
                <a:latin typeface="Calibri"/>
              </a:rPr>
              <a:t>calibration, segmentation, sizing, classifier, rule engine, fingerprinted PDF reports, dispute flow, dataset + model registry — REST API over PostgreSQL.</a:t>
            </a:r>
          </a:p>
        </p:txBody>
      </p:sp>
      <p:pic>
        <p:nvPicPr>
          <p:cNvPr id="17470" name="Picture 17469" descr="ph_home_hi_fram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52759" y="2350008"/>
            <a:ext cx="990160" cy="2103120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10488167" y="4489704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1">
                <a:solidFill>
                  <a:srgbClr val="5B6B7A"/>
                </a:solidFill>
                <a:latin typeface="Calibri"/>
              </a:rPr>
              <a:t>Prototype in Hindi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365760" y="5577840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KEY INNOVATIONS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365760" y="5833872"/>
            <a:ext cx="1874519" cy="47548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Oval 17473"/>
          <p:cNvSpPr/>
          <p:nvPr/>
        </p:nvSpPr>
        <p:spPr>
          <a:xfrm>
            <a:off x="429768" y="5888736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5" name="Picture 17474" descr="mat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" y="5961888"/>
            <a:ext cx="219456" cy="219456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868680" y="5833872"/>
            <a:ext cx="1344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ArUco grading mat</a:t>
            </a:r>
          </a:p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mm sizing, tilt-proof, ₹0 hardware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2313432" y="5833872"/>
            <a:ext cx="1874519" cy="47548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Oval 17477"/>
          <p:cNvSpPr/>
          <p:nvPr/>
        </p:nvSpPr>
        <p:spPr>
          <a:xfrm>
            <a:off x="2377439" y="5888736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9" name="Picture 17478" descr="personcheck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0591" y="5961888"/>
            <a:ext cx="219456" cy="219456"/>
          </a:xfrm>
          <a:prstGeom prst="rect">
            <a:avLst/>
          </a:prstGeom>
        </p:spPr>
      </p:pic>
      <p:sp>
        <p:nvSpPr>
          <p:cNvPr id="17480" name="TextBox 17479"/>
          <p:cNvSpPr txBox="1"/>
          <p:nvPr/>
        </p:nvSpPr>
        <p:spPr>
          <a:xfrm>
            <a:off x="2816352" y="5833872"/>
            <a:ext cx="1344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Officer in the loop</a:t>
            </a:r>
          </a:p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unsure onions never auto-graded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4261104" y="5833872"/>
            <a:ext cx="1874519" cy="47548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2" name="Oval 17481"/>
          <p:cNvSpPr/>
          <p:nvPr/>
        </p:nvSpPr>
        <p:spPr>
          <a:xfrm>
            <a:off x="4325112" y="5888736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3" name="Picture 17482" descr="loop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98264" y="5961888"/>
            <a:ext cx="219456" cy="219456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4764024" y="5833872"/>
            <a:ext cx="1344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Self-improving</a:t>
            </a:r>
          </a:p>
          <a:p>
            <a:pPr algn="l">
              <a:lnSpc>
                <a:spcPct val="90000"/>
              </a:lnSpc>
            </a:pPr>
            <a:r>
              <a:rPr sz="700" b="0" i="0">
                <a:solidFill>
                  <a:srgbClr val="5B6B7A"/>
                </a:solidFill>
                <a:latin typeface="Calibri"/>
              </a:rPr>
              <a:t>officer corrections = new training data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6446520" y="5577840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USER JOURNEY</a:t>
            </a:r>
          </a:p>
        </p:txBody>
      </p:sp>
      <p:sp>
        <p:nvSpPr>
          <p:cNvPr id="17486" name="Oval 17485"/>
          <p:cNvSpPr/>
          <p:nvPr/>
        </p:nvSpPr>
        <p:spPr>
          <a:xfrm>
            <a:off x="6766559" y="578815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7" name="Picture 17486" descr="clipboard_FFFFF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47210" y="5868802"/>
            <a:ext cx="222747" cy="222747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6446520" y="6190488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1E2A36"/>
                </a:solidFill>
                <a:latin typeface="Calibri"/>
              </a:rPr>
              <a:t>New lot</a:t>
            </a:r>
          </a:p>
        </p:txBody>
      </p:sp>
      <p:sp>
        <p:nvSpPr>
          <p:cNvPr id="17489" name="Right Arrow 17488"/>
          <p:cNvSpPr/>
          <p:nvPr/>
        </p:nvSpPr>
        <p:spPr>
          <a:xfrm>
            <a:off x="7269480" y="5879592"/>
            <a:ext cx="274320" cy="109728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0" name="Oval 17489"/>
          <p:cNvSpPr/>
          <p:nvPr/>
        </p:nvSpPr>
        <p:spPr>
          <a:xfrm>
            <a:off x="7863840" y="578815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1" name="Picture 17490" descr="camera_FFFFFF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44490" y="5868802"/>
            <a:ext cx="222747" cy="222747"/>
          </a:xfrm>
          <a:prstGeom prst="rect">
            <a:avLst/>
          </a:prstGeom>
        </p:spPr>
      </p:pic>
      <p:sp>
        <p:nvSpPr>
          <p:cNvPr id="17492" name="TextBox 17491"/>
          <p:cNvSpPr txBox="1"/>
          <p:nvPr/>
        </p:nvSpPr>
        <p:spPr>
          <a:xfrm>
            <a:off x="7543800" y="6190488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1E2A36"/>
                </a:solidFill>
                <a:latin typeface="Calibri"/>
              </a:rPr>
              <a:t>Photograph</a:t>
            </a:r>
          </a:p>
        </p:txBody>
      </p:sp>
      <p:sp>
        <p:nvSpPr>
          <p:cNvPr id="17493" name="Right Arrow 17492"/>
          <p:cNvSpPr/>
          <p:nvPr/>
        </p:nvSpPr>
        <p:spPr>
          <a:xfrm>
            <a:off x="8366760" y="5879592"/>
            <a:ext cx="274320" cy="109728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4" name="Oval 17493"/>
          <p:cNvSpPr/>
          <p:nvPr/>
        </p:nvSpPr>
        <p:spPr>
          <a:xfrm>
            <a:off x="8961119" y="578815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5" name="Picture 17494" descr="search_FFFFF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41770" y="5868802"/>
            <a:ext cx="222747" cy="222747"/>
          </a:xfrm>
          <a:prstGeom prst="rect">
            <a:avLst/>
          </a:prstGeom>
        </p:spPr>
      </p:pic>
      <p:sp>
        <p:nvSpPr>
          <p:cNvPr id="17496" name="TextBox 17495"/>
          <p:cNvSpPr txBox="1"/>
          <p:nvPr/>
        </p:nvSpPr>
        <p:spPr>
          <a:xfrm>
            <a:off x="8641080" y="6190488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1E2A36"/>
                </a:solidFill>
                <a:latin typeface="Calibri"/>
              </a:rPr>
              <a:t>Review flags</a:t>
            </a:r>
          </a:p>
        </p:txBody>
      </p:sp>
      <p:sp>
        <p:nvSpPr>
          <p:cNvPr id="17497" name="Right Arrow 17496"/>
          <p:cNvSpPr/>
          <p:nvPr/>
        </p:nvSpPr>
        <p:spPr>
          <a:xfrm>
            <a:off x="9464040" y="5879592"/>
            <a:ext cx="274320" cy="109728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8" name="Oval 17497"/>
          <p:cNvSpPr/>
          <p:nvPr/>
        </p:nvSpPr>
        <p:spPr>
          <a:xfrm>
            <a:off x="10058399" y="578815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9" name="Picture 17498" descr="tag_FFFFF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39050" y="5868802"/>
            <a:ext cx="222747" cy="222747"/>
          </a:xfrm>
          <a:prstGeom prst="rect">
            <a:avLst/>
          </a:prstGeom>
        </p:spPr>
      </p:pic>
      <p:sp>
        <p:nvSpPr>
          <p:cNvPr id="17500" name="TextBox 17499"/>
          <p:cNvSpPr txBox="1"/>
          <p:nvPr/>
        </p:nvSpPr>
        <p:spPr>
          <a:xfrm>
            <a:off x="9738359" y="6190488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1E2A36"/>
                </a:solidFill>
                <a:latin typeface="Calibri"/>
              </a:rPr>
              <a:t>Grade</a:t>
            </a:r>
          </a:p>
        </p:txBody>
      </p:sp>
      <p:sp>
        <p:nvSpPr>
          <p:cNvPr id="17501" name="Right Arrow 17500"/>
          <p:cNvSpPr/>
          <p:nvPr/>
        </p:nvSpPr>
        <p:spPr>
          <a:xfrm>
            <a:off x="10561319" y="5879592"/>
            <a:ext cx="274320" cy="109728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Oval 17501"/>
          <p:cNvSpPr/>
          <p:nvPr/>
        </p:nvSpPr>
        <p:spPr>
          <a:xfrm>
            <a:off x="11155679" y="5788152"/>
            <a:ext cx="384048" cy="384048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3" name="Picture 17502" descr="report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6330" y="5868802"/>
            <a:ext cx="222747" cy="222747"/>
          </a:xfrm>
          <a:prstGeom prst="rect">
            <a:avLst/>
          </a:prstGeom>
        </p:spPr>
      </p:pic>
      <p:sp>
        <p:nvSpPr>
          <p:cNvPr id="17504" name="TextBox 17503"/>
          <p:cNvSpPr txBox="1"/>
          <p:nvPr/>
        </p:nvSpPr>
        <p:spPr>
          <a:xfrm>
            <a:off x="10835639" y="6190488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1E7B45"/>
                </a:solidFill>
                <a:latin typeface="Calibri"/>
              </a:rPr>
              <a:t>Share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55279" cy="713232"/>
          </a:xfrm>
        </p:spPr>
        <p:txBody>
          <a:bodyPr anchor="ctr"/>
          <a:lstStyle/>
          <a:p>
            <a:pPr eaLnBrk="1" hangingPunct="1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01168"/>
            <a:ext cx="1417320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100">
                <a:solidFill>
                  <a:srgbClr val="000000"/>
                </a:solidFill>
                <a:latin typeface="Calibri"/>
              </a:rPr>
              <a:t>StrataCadastre_KP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932688"/>
            <a:ext cx="2724912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65760" y="932688"/>
            <a:ext cx="2724912" cy="402336"/>
          </a:xfrm>
          <a:prstGeom prst="roundRect">
            <a:avLst>
              <a:gd name="adj" fmla="val 12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rupe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987552"/>
            <a:ext cx="292608" cy="29260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22960" y="932688"/>
            <a:ext cx="222199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60">
                <a:solidFill>
                  <a:srgbClr val="FFFFFF"/>
                </a:solidFill>
                <a:latin typeface="Cambria"/>
              </a:rPr>
              <a:t>ECONOMIC FEASIBILITY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475488" y="1444752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5" name="Picture 17414" descr="phone_1E7B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17904"/>
            <a:ext cx="219456" cy="219456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32688" y="1426464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Uses phones already in hand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32688" y="1673352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Web app in the officer’s phone browser. The only extra item is a printed A4 mat.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475488" y="2212848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9" name="Picture 17418" descr="code_1E7B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286000"/>
            <a:ext cx="219456" cy="219456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32688" y="2194560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No licence cost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32688" y="2441448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Open-source stack (OpenCV, scikit-learn, FastAPI, PostgreSQL), self-hosted in Docker.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475488" y="2980944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trenddown_1E7B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054096"/>
            <a:ext cx="219456" cy="219456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932688" y="2962656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Fewer re-grades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32688" y="3209544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Stored photo + report settle a dispute without re-grading the whole lot.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64408" y="932688"/>
            <a:ext cx="2724912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Rounded Rectangle 17426"/>
          <p:cNvSpPr/>
          <p:nvPr/>
        </p:nvSpPr>
        <p:spPr>
          <a:xfrm>
            <a:off x="3264408" y="932688"/>
            <a:ext cx="2724912" cy="402336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cpu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136" y="987552"/>
            <a:ext cx="292608" cy="292608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3721608" y="932688"/>
            <a:ext cx="222199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60">
                <a:solidFill>
                  <a:srgbClr val="FFFFFF"/>
                </a:solidFill>
                <a:latin typeface="Cambria"/>
              </a:rPr>
              <a:t>TECHNICAL FEASIBILITY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3374136" y="1444752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check_1565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7288" y="1517904"/>
            <a:ext cx="219456" cy="219456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3831335" y="1426464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Working prototype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831335" y="1673352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Full chain runs end to end: photo → mm sizing → condition → grade → verified PDF.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3374136" y="2212848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laptop_1565C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7288" y="2286000"/>
            <a:ext cx="219456" cy="219456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3831335" y="2194560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Trains on a laptop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831335" y="2441448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Segmenter and classifier train on CPU in minutes; GPU model optional at scale.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3374136" y="2980944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9" name="Picture 17438" descr="blocks_1565C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3054096"/>
            <a:ext cx="219456" cy="219456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3831335" y="2962656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Proven building blocks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3831335" y="3209544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Marker-based metrology and image classification are mature computer-vision methods.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163056" y="932688"/>
            <a:ext cx="2724912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6163056" y="932688"/>
            <a:ext cx="2724912" cy="402336"/>
          </a:xfrm>
          <a:prstGeom prst="roundRect">
            <a:avLst>
              <a:gd name="adj" fmla="val 12000"/>
            </a:avLst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clipboard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987552"/>
            <a:ext cx="292608" cy="292608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6620256" y="932688"/>
            <a:ext cx="222199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60">
                <a:solidFill>
                  <a:srgbClr val="FFFFFF"/>
                </a:solidFill>
                <a:latin typeface="Cambria"/>
              </a:rPr>
              <a:t>OPERATIONAL FEASIBILITY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6272784" y="1444752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7" name="Picture 17446" descr="personcheck_6A3FB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5936" y="1517904"/>
            <a:ext cx="219456" cy="219456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6729984" y="1426464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Fits today’s process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729984" y="1673352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Officer still draws the sample; the app replaces judging by eye, not the officer.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6272784" y="2212848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1" name="Picture 17450" descr="sliders_6A3FB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5936" y="2286000"/>
            <a:ext cx="219456" cy="219456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6729984" y="2194560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Norms change without code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729984" y="2441448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New limits = new rule-set version, applied to every centre at once.</a:t>
            </a:r>
          </a:p>
        </p:txBody>
      </p:sp>
      <p:sp>
        <p:nvSpPr>
          <p:cNvPr id="17454" name="Oval 17453"/>
          <p:cNvSpPr/>
          <p:nvPr/>
        </p:nvSpPr>
        <p:spPr>
          <a:xfrm>
            <a:off x="6272784" y="2980944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5" name="Picture 17454" descr="server_6A3FB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5936" y="3054096"/>
            <a:ext cx="219456" cy="219456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6729984" y="2962656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Runs in NIC / state data centres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729984" y="3209544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Self-hosted Docker stack; photos never leave government servers.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9061704" y="932688"/>
            <a:ext cx="2724912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Rounded Rectangle 17458"/>
          <p:cNvSpPr/>
          <p:nvPr/>
        </p:nvSpPr>
        <p:spPr>
          <a:xfrm>
            <a:off x="9061704" y="932688"/>
            <a:ext cx="2724912" cy="402336"/>
          </a:xfrm>
          <a:prstGeom prst="roundRect">
            <a:avLst>
              <a:gd name="adj" fmla="val 12000"/>
            </a:avLst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0" name="Picture 17459" descr="farmer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1432" y="987552"/>
            <a:ext cx="292608" cy="292608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9518904" y="932688"/>
            <a:ext cx="222199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60">
                <a:solidFill>
                  <a:srgbClr val="FFFFFF"/>
                </a:solidFill>
                <a:latin typeface="Cambria"/>
              </a:rPr>
              <a:t>SOCIAL FEASIBILITY</a:t>
            </a:r>
          </a:p>
        </p:txBody>
      </p:sp>
      <p:sp>
        <p:nvSpPr>
          <p:cNvPr id="17462" name="Oval 17461"/>
          <p:cNvSpPr/>
          <p:nvPr/>
        </p:nvSpPr>
        <p:spPr>
          <a:xfrm>
            <a:off x="9171432" y="1444752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3" name="Picture 17462" descr="eye_C77C0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4584" y="1517904"/>
            <a:ext cx="219456" cy="219456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9628632" y="1426464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Farmer sees the evidence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9628632" y="1673352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Same annotated photo and per-onion result for farmer and officer.</a:t>
            </a:r>
          </a:p>
        </p:txBody>
      </p:sp>
      <p:sp>
        <p:nvSpPr>
          <p:cNvPr id="17466" name="Oval 17465"/>
          <p:cNvSpPr/>
          <p:nvPr/>
        </p:nvSpPr>
        <p:spPr>
          <a:xfrm>
            <a:off x="9171432" y="2212848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7" name="Picture 17466" descr="scale_C77C0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4584" y="2286000"/>
            <a:ext cx="219456" cy="219456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9628632" y="2194560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Same lot, same grade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9628632" y="2441448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Any centre, same rule version → same answer from the same photo.</a:t>
            </a:r>
          </a:p>
        </p:txBody>
      </p:sp>
      <p:sp>
        <p:nvSpPr>
          <p:cNvPr id="17470" name="Oval 17469"/>
          <p:cNvSpPr/>
          <p:nvPr/>
        </p:nvSpPr>
        <p:spPr>
          <a:xfrm>
            <a:off x="9171432" y="2980944"/>
            <a:ext cx="365760" cy="36576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1" name="Picture 17470" descr="globe_C77C0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44584" y="3054096"/>
            <a:ext cx="219456" cy="219456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9628632" y="2962656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Local languages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9628632" y="3209544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6B7A"/>
                </a:solidFill>
                <a:latin typeface="Calibri"/>
              </a:rPr>
              <a:t>Interface in Hindi, Marathi, Gujarati, Tamil, Telugu, Kannada and English.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365760" y="388620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KEY RISKS AND HOW WE OVERCOME THEM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365760" y="4114800"/>
            <a:ext cx="2724912" cy="102412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6" name="Oval 17475"/>
          <p:cNvSpPr/>
          <p:nvPr/>
        </p:nvSpPr>
        <p:spPr>
          <a:xfrm>
            <a:off x="475488" y="4206240"/>
            <a:ext cx="420624" cy="420624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7" name="Picture 17476" descr="sun_FFFFF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8025" y="4298777"/>
            <a:ext cx="235549" cy="235549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969264" y="4187952"/>
            <a:ext cx="20299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B3261E"/>
                </a:solidFill>
                <a:latin typeface="Calibri"/>
              </a:rPr>
              <a:t>Varied light and backgrounds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93776" y="4663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Matte printed mat + capture guide; models retrained on photos from each new centre.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3264408" y="4114800"/>
            <a:ext cx="2724912" cy="102412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1" name="Oval 17480"/>
          <p:cNvSpPr/>
          <p:nvPr/>
        </p:nvSpPr>
        <p:spPr>
          <a:xfrm>
            <a:off x="3374136" y="4206240"/>
            <a:ext cx="420624" cy="420624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2" name="Picture 17481" descr="touching_FFFFFF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66673" y="4298777"/>
            <a:ext cx="235549" cy="235549"/>
          </a:xfrm>
          <a:prstGeom prst="rect">
            <a:avLst/>
          </a:prstGeom>
        </p:spPr>
      </p:pic>
      <p:sp>
        <p:nvSpPr>
          <p:cNvPr id="17483" name="TextBox 17482"/>
          <p:cNvSpPr txBox="1"/>
          <p:nvPr/>
        </p:nvSpPr>
        <p:spPr>
          <a:xfrm>
            <a:off x="3867911" y="4187952"/>
            <a:ext cx="20299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B3261E"/>
                </a:solidFill>
                <a:latin typeface="Calibri"/>
              </a:rPr>
              <a:t>Onions touching or clustered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3392424" y="4663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Learned boundary class + watershed splitting; officer confirms any flagged onion.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6163056" y="4114800"/>
            <a:ext cx="2724912" cy="102412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Oval 17485"/>
          <p:cNvSpPr/>
          <p:nvPr/>
        </p:nvSpPr>
        <p:spPr>
          <a:xfrm>
            <a:off x="6272784" y="4206240"/>
            <a:ext cx="420624" cy="420624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7" name="Picture 17486" descr="search_FFFFFF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5321" y="4298777"/>
            <a:ext cx="235549" cy="235549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6766560" y="4187952"/>
            <a:ext cx="20299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B3261E"/>
                </a:solidFill>
                <a:latin typeface="Calibri"/>
              </a:rPr>
              <a:t>Internal rot is invisible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6291072" y="4663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Report lists surface grade; the officer’s cut test stays part of the procedure.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9061704" y="4114800"/>
            <a:ext cx="2724912" cy="102412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525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Oval 17490"/>
          <p:cNvSpPr/>
          <p:nvPr/>
        </p:nvSpPr>
        <p:spPr>
          <a:xfrm>
            <a:off x="9171432" y="4206240"/>
            <a:ext cx="420624" cy="420624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2" name="Picture 17491" descr="refresh_FFFFFF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63969" y="4298777"/>
            <a:ext cx="235549" cy="235549"/>
          </a:xfrm>
          <a:prstGeom prst="rect">
            <a:avLst/>
          </a:prstGeom>
        </p:spPr>
      </p:pic>
      <p:sp>
        <p:nvSpPr>
          <p:cNvPr id="17493" name="TextBox 17492"/>
          <p:cNvSpPr txBox="1"/>
          <p:nvPr/>
        </p:nvSpPr>
        <p:spPr>
          <a:xfrm>
            <a:off x="9665208" y="4187952"/>
            <a:ext cx="20299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B3261E"/>
                </a:solidFill>
                <a:latin typeface="Calibri"/>
              </a:rPr>
              <a:t>Grade norms keep changing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9189720" y="4663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Limits live in versioned rule sets, updated by a supervisor per official circular.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365760" y="5303520"/>
            <a:ext cx="72237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6" name="TextBox 17495"/>
          <p:cNvSpPr txBox="1"/>
          <p:nvPr/>
        </p:nvSpPr>
        <p:spPr>
          <a:xfrm>
            <a:off x="502920" y="535838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00897B"/>
                </a:solidFill>
                <a:latin typeface="Calibri"/>
              </a:rPr>
              <a:t>IMPLEMENTATION ROADMAP</a:t>
            </a:r>
          </a:p>
        </p:txBody>
      </p:sp>
      <p:sp>
        <p:nvSpPr>
          <p:cNvPr id="17497" name="Oval 17496"/>
          <p:cNvSpPr/>
          <p:nvPr/>
        </p:nvSpPr>
        <p:spPr>
          <a:xfrm>
            <a:off x="502920" y="5596128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8" name="Picture 17497" descr="camera_FFFFFF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9729" y="5672937"/>
            <a:ext cx="212140" cy="212140"/>
          </a:xfrm>
          <a:prstGeom prst="rect">
            <a:avLst/>
          </a:prstGeom>
        </p:spPr>
      </p:pic>
      <p:sp>
        <p:nvSpPr>
          <p:cNvPr id="17499" name="TextBox 17498"/>
          <p:cNvSpPr txBox="1"/>
          <p:nvPr/>
        </p:nvSpPr>
        <p:spPr>
          <a:xfrm>
            <a:off x="923544" y="5559552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Phase 1 · Data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923544" y="576072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Label mandi onion photos; ruler-measure a subset</a:t>
            </a:r>
          </a:p>
        </p:txBody>
      </p:sp>
      <p:sp>
        <p:nvSpPr>
          <p:cNvPr id="17501" name="Right Arrow 17500"/>
          <p:cNvSpPr/>
          <p:nvPr/>
        </p:nvSpPr>
        <p:spPr>
          <a:xfrm>
            <a:off x="2075688" y="5705856"/>
            <a:ext cx="137160" cy="146304"/>
          </a:xfrm>
          <a:prstGeom prst="rightArrow">
            <a:avLst/>
          </a:prstGeom>
          <a:solidFill>
            <a:srgbClr val="80C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Oval 17501"/>
          <p:cNvSpPr/>
          <p:nvPr/>
        </p:nvSpPr>
        <p:spPr>
          <a:xfrm>
            <a:off x="2258568" y="5596128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3" name="Picture 17502" descr="cpu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5377" y="5672937"/>
            <a:ext cx="212140" cy="212140"/>
          </a:xfrm>
          <a:prstGeom prst="rect">
            <a:avLst/>
          </a:prstGeom>
        </p:spPr>
      </p:pic>
      <p:sp>
        <p:nvSpPr>
          <p:cNvPr id="17504" name="TextBox 17503"/>
          <p:cNvSpPr txBox="1"/>
          <p:nvPr/>
        </p:nvSpPr>
        <p:spPr>
          <a:xfrm>
            <a:off x="2679191" y="5559552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Phase 2 · Train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2679191" y="576072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Train segmenter + classifier; test on held-out photos</a:t>
            </a:r>
          </a:p>
        </p:txBody>
      </p:sp>
      <p:sp>
        <p:nvSpPr>
          <p:cNvPr id="17506" name="Right Arrow 17505"/>
          <p:cNvSpPr/>
          <p:nvPr/>
        </p:nvSpPr>
        <p:spPr>
          <a:xfrm>
            <a:off x="3831335" y="5705856"/>
            <a:ext cx="137160" cy="146304"/>
          </a:xfrm>
          <a:prstGeom prst="rightArrow">
            <a:avLst/>
          </a:prstGeom>
          <a:solidFill>
            <a:srgbClr val="80C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7" name="Oval 17506"/>
          <p:cNvSpPr/>
          <p:nvPr/>
        </p:nvSpPr>
        <p:spPr>
          <a:xfrm>
            <a:off x="4014215" y="5596128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8" name="Picture 17507" descr="mappin_FFFFFF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91025" y="5672937"/>
            <a:ext cx="212140" cy="212140"/>
          </a:xfrm>
          <a:prstGeom prst="rect">
            <a:avLst/>
          </a:prstGeom>
        </p:spPr>
      </p:pic>
      <p:sp>
        <p:nvSpPr>
          <p:cNvPr id="17509" name="TextBox 17508"/>
          <p:cNvSpPr txBox="1"/>
          <p:nvPr/>
        </p:nvSpPr>
        <p:spPr>
          <a:xfrm>
            <a:off x="4434840" y="5559552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Phase 3 · Pilot</a:t>
            </a:r>
          </a:p>
        </p:txBody>
      </p:sp>
      <p:sp>
        <p:nvSpPr>
          <p:cNvPr id="17510" name="TextBox 17509"/>
          <p:cNvSpPr txBox="1"/>
          <p:nvPr/>
        </p:nvSpPr>
        <p:spPr>
          <a:xfrm>
            <a:off x="4434840" y="576072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One procurement centre, officers in the loop</a:t>
            </a:r>
          </a:p>
        </p:txBody>
      </p:sp>
      <p:sp>
        <p:nvSpPr>
          <p:cNvPr id="17511" name="Right Arrow 17510"/>
          <p:cNvSpPr/>
          <p:nvPr/>
        </p:nvSpPr>
        <p:spPr>
          <a:xfrm>
            <a:off x="5586983" y="5705856"/>
            <a:ext cx="137160" cy="146304"/>
          </a:xfrm>
          <a:prstGeom prst="rightArrow">
            <a:avLst/>
          </a:prstGeom>
          <a:solidFill>
            <a:srgbClr val="80C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2" name="Oval 17511"/>
          <p:cNvSpPr/>
          <p:nvPr/>
        </p:nvSpPr>
        <p:spPr>
          <a:xfrm>
            <a:off x="5769864" y="5596128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3" name="Picture 17512" descr="stack_FFFFFF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46673" y="5672937"/>
            <a:ext cx="212140" cy="212140"/>
          </a:xfrm>
          <a:prstGeom prst="rect">
            <a:avLst/>
          </a:prstGeom>
        </p:spPr>
      </p:pic>
      <p:sp>
        <p:nvSpPr>
          <p:cNvPr id="17514" name="TextBox 17513"/>
          <p:cNvSpPr txBox="1"/>
          <p:nvPr/>
        </p:nvSpPr>
        <p:spPr>
          <a:xfrm>
            <a:off x="6190488" y="5559552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Phase 4 · Scale</a:t>
            </a:r>
          </a:p>
        </p:txBody>
      </p:sp>
      <p:sp>
        <p:nvSpPr>
          <p:cNvPr id="17515" name="TextBox 17514"/>
          <p:cNvSpPr txBox="1"/>
          <p:nvPr/>
        </p:nvSpPr>
        <p:spPr>
          <a:xfrm>
            <a:off x="6190488" y="576072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50" b="0" i="0">
                <a:solidFill>
                  <a:srgbClr val="1E2A36"/>
                </a:solidFill>
                <a:latin typeface="Calibri"/>
              </a:rPr>
              <a:t>Multi-centre rollout; retrain from officer corrections</a:t>
            </a:r>
          </a:p>
        </p:txBody>
      </p:sp>
      <p:sp>
        <p:nvSpPr>
          <p:cNvPr id="17516" name="Rounded Rectangle 17515"/>
          <p:cNvSpPr/>
          <p:nvPr/>
        </p:nvSpPr>
        <p:spPr>
          <a:xfrm>
            <a:off x="7772400" y="5303520"/>
            <a:ext cx="4050791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7" name="TextBox 17516"/>
          <p:cNvSpPr txBox="1"/>
          <p:nvPr/>
        </p:nvSpPr>
        <p:spPr>
          <a:xfrm>
            <a:off x="7909560" y="535838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00897B"/>
                </a:solidFill>
                <a:latin typeface="Calibri"/>
              </a:rPr>
              <a:t>DETAILED FINAL REPORT</a:t>
            </a:r>
          </a:p>
        </p:txBody>
      </p:sp>
      <p:sp>
        <p:nvSpPr>
          <p:cNvPr id="17518" name="Oval 17517"/>
          <p:cNvSpPr/>
          <p:nvPr/>
        </p:nvSpPr>
        <p:spPr>
          <a:xfrm>
            <a:off x="7909560" y="5650992"/>
            <a:ext cx="475488" cy="475488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9" name="Picture 17518" descr="report_FFFFFF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04657" y="5746089"/>
            <a:ext cx="285292" cy="285292"/>
          </a:xfrm>
          <a:prstGeom prst="rect">
            <a:avLst/>
          </a:prstGeom>
        </p:spPr>
      </p:pic>
      <p:sp>
        <p:nvSpPr>
          <p:cNvPr id="17520" name="Rectangle 17519"/>
          <p:cNvSpPr/>
          <p:nvPr/>
        </p:nvSpPr>
        <p:spPr>
          <a:xfrm>
            <a:off x="8485632" y="5614416"/>
            <a:ext cx="3200400" cy="548640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900" b="1" i="0" u="sng">
                <a:solidFill>
                  <a:srgbClr val="1565C0"/>
                </a:solidFill>
                <a:latin typeface="Calibri"/>
              </a:rPr>
              <a:t>Click here to see the detailed report.</a:t>
            </a:r>
          </a:p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Architecture, database, API and training plan in full.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55279" cy="713232"/>
          </a:xfrm>
        </p:spPr>
        <p:txBody>
          <a:bodyPr anchor="ctr"/>
          <a:lstStyle/>
          <a:p>
            <a:pPr eaLnBrk="1" hangingPunct="1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01168"/>
            <a:ext cx="1417320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100">
                <a:solidFill>
                  <a:srgbClr val="000000"/>
                </a:solidFill>
                <a:latin typeface="Calibri"/>
              </a:rPr>
              <a:t>StrataCadastre_KP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932688"/>
            <a:ext cx="2724912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ectangle 17410"/>
          <p:cNvSpPr/>
          <p:nvPr/>
        </p:nvSpPr>
        <p:spPr>
          <a:xfrm>
            <a:off x="365760" y="932688"/>
            <a:ext cx="2724912" cy="5486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493776" y="1152144"/>
            <a:ext cx="512064" cy="51206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box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" y="1254556"/>
            <a:ext cx="307238" cy="30723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97280" y="1024128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5C0"/>
                </a:solidFill>
                <a:latin typeface="Cambria"/>
              </a:rPr>
              <a:t>2 lakh 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97280" y="1408176"/>
            <a:ext cx="19019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E2A36"/>
                </a:solidFill>
                <a:latin typeface="Calibri"/>
              </a:rPr>
              <a:t>onion procurement target for 2026 (NAFED + NCCF, 1 lakh t each)³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64408" y="932688"/>
            <a:ext cx="2724912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Rectangle 17416"/>
          <p:cNvSpPr/>
          <p:nvPr/>
        </p:nvSpPr>
        <p:spPr>
          <a:xfrm>
            <a:off x="3264408" y="932688"/>
            <a:ext cx="2724912" cy="5486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Oval 17417"/>
          <p:cNvSpPr/>
          <p:nvPr/>
        </p:nvSpPr>
        <p:spPr>
          <a:xfrm>
            <a:off x="3392424" y="1152144"/>
            <a:ext cx="512064" cy="512064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9" name="Picture 17418" descr="rupe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836" y="1254556"/>
            <a:ext cx="307238" cy="307238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3995928" y="1024128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B3261E"/>
                </a:solidFill>
                <a:latin typeface="Cambria"/>
              </a:rPr>
              <a:t>₹2,335/qtl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995928" y="1408176"/>
            <a:ext cx="19019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E2A36"/>
                </a:solidFill>
                <a:latin typeface="Calibri"/>
              </a:rPr>
              <a:t>Grade A procurement price from 30 July 2026²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63056" y="932688"/>
            <a:ext cx="2724912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Rectangle 17422"/>
          <p:cNvSpPr/>
          <p:nvPr/>
        </p:nvSpPr>
        <p:spPr>
          <a:xfrm>
            <a:off x="6163056" y="932688"/>
            <a:ext cx="2724912" cy="54864"/>
          </a:xfrm>
          <a:prstGeom prst="rect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Oval 17423"/>
          <p:cNvSpPr/>
          <p:nvPr/>
        </p:nvSpPr>
        <p:spPr>
          <a:xfrm>
            <a:off x="6291072" y="1152144"/>
            <a:ext cx="512064" cy="512064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rul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484" y="1254556"/>
            <a:ext cx="307238" cy="307238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6894576" y="1024128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E7B45"/>
                </a:solidFill>
                <a:latin typeface="Cambria"/>
              </a:rPr>
              <a:t>45 mm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894576" y="1408176"/>
            <a:ext cx="19019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E2A36"/>
                </a:solidFill>
                <a:latin typeface="Calibri"/>
              </a:rPr>
              <a:t>minimum size NAFED accepted after the June 2026 relaxation (was ~55 mm)¹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061704" y="932688"/>
            <a:ext cx="2724912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ectangle 17428"/>
          <p:cNvSpPr/>
          <p:nvPr/>
        </p:nvSpPr>
        <p:spPr>
          <a:xfrm>
            <a:off x="9061704" y="932688"/>
            <a:ext cx="2724912" cy="54864"/>
          </a:xfrm>
          <a:prstGeom prst="rect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Oval 17429"/>
          <p:cNvSpPr/>
          <p:nvPr/>
        </p:nvSpPr>
        <p:spPr>
          <a:xfrm>
            <a:off x="9189720" y="1152144"/>
            <a:ext cx="512064" cy="512064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char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2132" y="1254556"/>
            <a:ext cx="307238" cy="307238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9793224" y="1024128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3FB5"/>
                </a:solidFill>
                <a:latin typeface="Cambria"/>
              </a:rPr>
              <a:t>7th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793224" y="1408176"/>
            <a:ext cx="19019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E2A36"/>
                </a:solidFill>
                <a:latin typeface="Calibri"/>
              </a:rPr>
              <a:t>procurement price hike of the season, by 30 July 2026²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65760" y="20116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GRADE A PROCUREMENT PRICE, 2026 (₹/QUINTAL)</a:t>
            </a:r>
          </a:p>
        </p:txBody>
      </p:sp>
      <p:graphicFrame>
        <p:nvGraphicFramePr>
          <p:cNvPr id="17435" name="Chart 17434"/>
          <p:cNvGraphicFramePr>
            <a:graphicFrameLocks noGrp="1"/>
          </p:cNvGraphicFramePr>
          <p:nvPr/>
        </p:nvGraphicFramePr>
        <p:xfrm>
          <a:off x="365760" y="2212848"/>
          <a:ext cx="3566160" cy="210312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7436" name="TextBox 17435"/>
          <p:cNvSpPr txBox="1"/>
          <p:nvPr/>
        </p:nvSpPr>
        <p:spPr>
          <a:xfrm>
            <a:off x="365760" y="431596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5B6B7A"/>
                </a:solidFill>
                <a:latin typeface="Calibri"/>
              </a:rPr>
              <a:t>Source: Free Press Journal, 31 Jul 2026²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206240" y="201168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GRADING RULES CHANGED MID-SEASON (2026)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4425696" y="2468880"/>
            <a:ext cx="36576" cy="1600200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Oval 17438"/>
          <p:cNvSpPr/>
          <p:nvPr/>
        </p:nvSpPr>
        <p:spPr>
          <a:xfrm>
            <a:off x="4242816" y="2304288"/>
            <a:ext cx="402336" cy="402336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rul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1329" y="2392801"/>
            <a:ext cx="225308" cy="225308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4754880" y="228600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0621B"/>
                </a:solidFill>
                <a:latin typeface="Calibri"/>
              </a:rPr>
              <a:t>June 2026  </a:t>
            </a:r>
            <a:r>
              <a:rPr sz="1000" b="1" i="0">
                <a:solidFill>
                  <a:srgbClr val="1E2A36"/>
                </a:solidFill>
                <a:latin typeface="Calibri"/>
              </a:rPr>
              <a:t>Norms relaxed¹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754880" y="250545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Min. size ~55 → 45 mm; one peeled layer, up to 30% blackening, 40% spots, 10% sunburn accepted.</a:t>
            </a:r>
          </a:p>
        </p:txBody>
      </p:sp>
      <p:sp>
        <p:nvSpPr>
          <p:cNvPr id="17443" name="Oval 17442"/>
          <p:cNvSpPr/>
          <p:nvPr/>
        </p:nvSpPr>
        <p:spPr>
          <a:xfrm>
            <a:off x="4242816" y="2999232"/>
            <a:ext cx="402336" cy="402336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x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1329" y="3087745"/>
            <a:ext cx="225308" cy="225308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4754880" y="298094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3261E"/>
                </a:solidFill>
                <a:latin typeface="Calibri"/>
              </a:rPr>
              <a:t>30 July 2026  </a:t>
            </a:r>
            <a:r>
              <a:rPr sz="1000" b="1" i="0">
                <a:solidFill>
                  <a:srgbClr val="1E2A36"/>
                </a:solidFill>
                <a:latin typeface="Calibri"/>
              </a:rPr>
              <a:t>URS stopped²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754880" y="3200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Only Grade A bought from this date; Grade A price raised to ₹2,335/qtl.</a:t>
            </a:r>
          </a:p>
        </p:txBody>
      </p:sp>
      <p:sp>
        <p:nvSpPr>
          <p:cNvPr id="17447" name="Oval 17446"/>
          <p:cNvSpPr/>
          <p:nvPr/>
        </p:nvSpPr>
        <p:spPr>
          <a:xfrm>
            <a:off x="4242816" y="3694175"/>
            <a:ext cx="402336" cy="402336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8" name="Picture 17447" descr="sliders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1329" y="3782689"/>
            <a:ext cx="225308" cy="225308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4754880" y="3675887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7B45"/>
                </a:solidFill>
                <a:latin typeface="Calibri"/>
              </a:rPr>
              <a:t>Next change  </a:t>
            </a:r>
            <a:r>
              <a:rPr sz="1000" b="1" i="0">
                <a:solidFill>
                  <a:srgbClr val="1E2A36"/>
                </a:solidFill>
                <a:latin typeface="Calibri"/>
              </a:rPr>
              <a:t>One click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754880" y="389534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In EkMaap: a new rule-set version, live at every centre the same day.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275320" y="201168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PROTOTYPE — OFFICER SCREENS</a:t>
            </a:r>
          </a:p>
        </p:txBody>
      </p:sp>
      <p:pic>
        <p:nvPicPr>
          <p:cNvPr id="17452" name="Picture 17451" descr="ph_result_mr_fram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320" y="2240280"/>
            <a:ext cx="981550" cy="2084831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8229600" y="4334256"/>
            <a:ext cx="107299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Result · Marathi</a:t>
            </a:r>
          </a:p>
        </p:txBody>
      </p:sp>
      <p:pic>
        <p:nvPicPr>
          <p:cNvPr id="17454" name="Picture 17453" descr="ph_sheet_ta_fram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39750" y="2240280"/>
            <a:ext cx="981550" cy="2084831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9394030" y="4334256"/>
            <a:ext cx="107299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Check onion · Tamil</a:t>
            </a:r>
          </a:p>
        </p:txBody>
      </p:sp>
      <p:pic>
        <p:nvPicPr>
          <p:cNvPr id="17456" name="Picture 17455" descr="ph_report_en_fram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04181" y="2240280"/>
            <a:ext cx="981550" cy="2084831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10558461" y="4334256"/>
            <a:ext cx="107299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1F3864"/>
                </a:solidFill>
                <a:latin typeface="Calibri"/>
              </a:rPr>
              <a:t>Report · English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275320" y="448056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5B6B7A"/>
                </a:solidFill>
                <a:latin typeface="Calibri"/>
              </a:rPr>
              <a:t>Officer confirms flagged onions, then issues the report.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365760" y="459028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5B6B7A"/>
                </a:solidFill>
                <a:latin typeface="Calibri"/>
              </a:rPr>
              <a:t>IMPACT ON THE TARGET AUDIENCE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365760" y="4828032"/>
            <a:ext cx="2724912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Oval 17460"/>
          <p:cNvSpPr/>
          <p:nvPr/>
        </p:nvSpPr>
        <p:spPr>
          <a:xfrm>
            <a:off x="457200" y="4901184"/>
            <a:ext cx="457200" cy="457200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2" name="Picture 17461" descr="farmer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4992624"/>
            <a:ext cx="274320" cy="274320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1005840" y="4882896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Farmers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1005840" y="5148072"/>
            <a:ext cx="19933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B6B7A"/>
                </a:solidFill>
                <a:latin typeface="Calibri"/>
              </a:rPr>
              <a:t>See exactly why their lot got its grade; contest with evidence, not argument.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3264408" y="4828032"/>
            <a:ext cx="2724912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Oval 17465"/>
          <p:cNvSpPr/>
          <p:nvPr/>
        </p:nvSpPr>
        <p:spPr>
          <a:xfrm>
            <a:off x="3355848" y="4901184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7" name="Picture 17466" descr="officer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7288" y="4992624"/>
            <a:ext cx="274320" cy="274320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3904487" y="4882896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Procurement officers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3904487" y="5148072"/>
            <a:ext cx="19933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B6B7A"/>
                </a:solidFill>
                <a:latin typeface="Calibri"/>
              </a:rPr>
              <a:t>Grade backed by photo + rule version; less personal blame in disputes.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6163056" y="4828032"/>
            <a:ext cx="2724912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1" name="Oval 17470"/>
          <p:cNvSpPr/>
          <p:nvPr/>
        </p:nvSpPr>
        <p:spPr>
          <a:xfrm>
            <a:off x="6254496" y="4901184"/>
            <a:ext cx="457200" cy="457200"/>
          </a:xfrm>
          <a:prstGeom prst="ellipse">
            <a:avLst/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2" name="Picture 17471" descr="govt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5936" y="4992624"/>
            <a:ext cx="274320" cy="274320"/>
          </a:xfrm>
          <a:prstGeom prst="rect">
            <a:avLst/>
          </a:prstGeom>
        </p:spPr>
      </p:pic>
      <p:sp>
        <p:nvSpPr>
          <p:cNvPr id="17473" name="TextBox 17472"/>
          <p:cNvSpPr txBox="1"/>
          <p:nvPr/>
        </p:nvSpPr>
        <p:spPr>
          <a:xfrm>
            <a:off x="6803136" y="4882896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NAFED / NCCF / DoCA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6803136" y="5148072"/>
            <a:ext cx="19933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B6B7A"/>
                </a:solidFill>
                <a:latin typeface="Calibri"/>
              </a:rPr>
              <a:t>Comparable quality data across centres; new norms rolled out as one update.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9061704" y="4828032"/>
            <a:ext cx="2724912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6" name="Oval 17475"/>
          <p:cNvSpPr/>
          <p:nvPr/>
        </p:nvSpPr>
        <p:spPr>
          <a:xfrm>
            <a:off x="9153144" y="4901184"/>
            <a:ext cx="457200" cy="457200"/>
          </a:xfrm>
          <a:prstGeom prst="ellipse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7" name="Picture 17476" descr="bag_FFFFF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4584" y="4992624"/>
            <a:ext cx="274320" cy="274320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9701784" y="4882896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6"/>
                </a:solidFill>
                <a:latin typeface="Calibri"/>
              </a:rPr>
              <a:t>Consumers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9701784" y="5148072"/>
            <a:ext cx="19933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B6B7A"/>
                </a:solidFill>
                <a:latin typeface="Calibri"/>
              </a:rPr>
              <a:t>Cleaner intake into the buffer stock released to stabilise onion prices.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365760" y="5760720"/>
            <a:ext cx="3730752" cy="5029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1" name="Picture 17480" descr="scale_1565C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488" y="5852160"/>
            <a:ext cx="329184" cy="329184"/>
          </a:xfrm>
          <a:prstGeom prst="rect">
            <a:avLst/>
          </a:prstGeom>
        </p:spPr>
      </p:pic>
      <p:sp>
        <p:nvSpPr>
          <p:cNvPr id="17482" name="TextBox 17481"/>
          <p:cNvSpPr txBox="1"/>
          <p:nvPr/>
        </p:nvSpPr>
        <p:spPr>
          <a:xfrm>
            <a:off x="896112" y="57881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SOCIAL</a:t>
            </a:r>
          </a:p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Fewer disputes at the centre; trust built on shared evidence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4270248" y="5760720"/>
            <a:ext cx="3730752" cy="5029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9525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4" name="Picture 17483" descr="rupee_1E7B4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79976" y="5852160"/>
            <a:ext cx="329184" cy="329184"/>
          </a:xfrm>
          <a:prstGeom prst="rect">
            <a:avLst/>
          </a:prstGeom>
        </p:spPr>
      </p:pic>
      <p:sp>
        <p:nvSpPr>
          <p:cNvPr id="17485" name="TextBox 17484"/>
          <p:cNvSpPr txBox="1"/>
          <p:nvPr/>
        </p:nvSpPr>
        <p:spPr>
          <a:xfrm>
            <a:off x="4800600" y="57881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7B45"/>
                </a:solidFill>
                <a:latin typeface="Calibri"/>
              </a:rPr>
              <a:t>ECONOMIC</a:t>
            </a:r>
          </a:p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Right price for the right grade; fewer costly re-grades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8174736" y="5760720"/>
            <a:ext cx="3730752" cy="5029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9525">
            <a:solidFill>
              <a:srgbClr val="D06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7" name="Picture 17486" descr="shield_D0621B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84464" y="5852160"/>
            <a:ext cx="329184" cy="329184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8705088" y="57881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0621B"/>
                </a:solidFill>
                <a:latin typeface="Calibri"/>
              </a:rPr>
              <a:t>GOVERNANCE</a:t>
            </a:r>
          </a:p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Auditable, versioned, tamper-evident grading at every centre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55279" cy="713232"/>
          </a:xfrm>
        </p:spPr>
        <p:txBody>
          <a:bodyPr anchor="ctr"/>
          <a:lstStyle/>
          <a:p>
            <a:pPr eaLnBrk="1" hangingPunct="1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01168"/>
            <a:ext cx="1417320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tIns="0" bIns="0" wrap="none"/>
          <a:lstStyle/>
          <a:p>
            <a:pPr algn="ctr"/>
            <a:r>
              <a:rPr lang="en-US" dirty="0" sz="1100">
                <a:solidFill>
                  <a:srgbClr val="000000"/>
                </a:solidFill>
                <a:latin typeface="Calibri"/>
              </a:rPr>
              <a:t>StrataCadastre_KP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932688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65760" y="932688"/>
            <a:ext cx="3703320" cy="402336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987552"/>
            <a:ext cx="292608" cy="29260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59536" y="932688"/>
            <a:ext cx="31546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60">
                <a:solidFill>
                  <a:srgbClr val="FFFFFF"/>
                </a:solidFill>
                <a:latin typeface="Cambria"/>
              </a:rPr>
              <a:t>GRADING STANDARDS &amp; POLICY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493776" y="1536192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5" name="Picture 17414" descr="flask_1565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618488"/>
            <a:ext cx="237744" cy="23774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005840" y="1444752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SIH26031 problem statement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005840" y="1673352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DoCA, Ministry of Consumer Affairs — expected solution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005840" y="1920240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565C0"/>
                </a:solidFill>
                <a:latin typeface="Courier New"/>
              </a:rPr>
              <a:t>sih.gov.in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493776" y="2386584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0" name="Picture 17419" descr="report_1565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468880"/>
            <a:ext cx="237744" cy="23774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005840" y="2295144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Fruits &amp; Vegetables Grading and Marking Rules, 2004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005840" y="2523744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AGMARK onion standard (Schedule XIX)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05840" y="2770632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565C0"/>
                </a:solidFill>
                <a:latin typeface="Courier New"/>
              </a:rPr>
              <a:t>agritech.tnau.ac.in/amis/pdf/ONION_AGMARK.pdf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493776" y="3236976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rupee_1565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319272"/>
            <a:ext cx="237744" cy="23774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005840" y="3145536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Price Stabilisation Fund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005840" y="3374136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Scheme under which the onion buffer is procured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005840" y="3621024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565C0"/>
                </a:solidFill>
                <a:latin typeface="Courier New"/>
              </a:rPr>
              <a:t>consumeraffairs.nic.in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493776" y="4087368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0" name="Picture 17429" descr="govt_1565C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169664"/>
            <a:ext cx="237744" cy="23774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1005840" y="3995928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NAFED · NCCF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005840" y="4224528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Central procurement agencies for the onion buffer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005840" y="4471416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565C0"/>
                </a:solidFill>
                <a:latin typeface="Courier New"/>
              </a:rPr>
              <a:t>nafed-india.com · nccf-india.com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242816" y="932688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Rounded Rectangle 17434"/>
          <p:cNvSpPr/>
          <p:nvPr/>
        </p:nvSpPr>
        <p:spPr>
          <a:xfrm>
            <a:off x="4242816" y="932688"/>
            <a:ext cx="3703320" cy="402336"/>
          </a:xfrm>
          <a:prstGeom prst="roundRect">
            <a:avLst>
              <a:gd name="adj" fmla="val 12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6" name="Picture 17435" descr="news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0832" y="987552"/>
            <a:ext cx="292608" cy="292608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4736592" y="932688"/>
            <a:ext cx="31546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60">
                <a:solidFill>
                  <a:srgbClr val="FFFFFF"/>
                </a:solidFill>
                <a:latin typeface="Cambria"/>
              </a:rPr>
              <a:t>2026 PROCUREMENT FACTS (NEWS)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4370832" y="1536192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9" name="Picture 17438" descr="news_1E7B4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3128" y="1618488"/>
            <a:ext cx="237744" cy="237744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4882896" y="1444752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¹ NAFED relaxes onion procurement norms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882896" y="1673352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Free Press Journal · 4 Jun 2026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882896" y="1920240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E7B45"/>
                </a:solidFill>
                <a:latin typeface="Courier New"/>
              </a:rPr>
              <a:t>freepressjournal.in/pune</a:t>
            </a:r>
          </a:p>
        </p:txBody>
      </p:sp>
      <p:sp>
        <p:nvSpPr>
          <p:cNvPr id="17443" name="Oval 17442"/>
          <p:cNvSpPr/>
          <p:nvPr/>
        </p:nvSpPr>
        <p:spPr>
          <a:xfrm>
            <a:off x="4370832" y="2386584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news_1E7B4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3128" y="2468880"/>
            <a:ext cx="237744" cy="237744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4882896" y="2295144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² Grade A rate ₹2,335/qtl; URS stopped 30 July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882896" y="2523744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Free Press Journal · 31 Jul 2026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882896" y="2770632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E7B45"/>
                </a:solidFill>
                <a:latin typeface="Courier New"/>
              </a:rPr>
              <a:t>freepressjournal.in/pune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4370832" y="3236976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news_1E7B4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3128" y="3319272"/>
            <a:ext cx="237744" cy="237744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4882896" y="3145536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³ Early procurement, 2 lakh t target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882896" y="3374136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Free Press Journal · 8 Apr 2026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882896" y="3621024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E7B45"/>
                </a:solidFill>
                <a:latin typeface="Courier New"/>
              </a:rPr>
              <a:t>freepressjournal.in/pune</a:t>
            </a:r>
          </a:p>
        </p:txBody>
      </p:sp>
      <p:sp>
        <p:nvSpPr>
          <p:cNvPr id="17453" name="Oval 17452"/>
          <p:cNvSpPr/>
          <p:nvPr/>
        </p:nvSpPr>
        <p:spPr>
          <a:xfrm>
            <a:off x="4370832" y="4087368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4" name="Picture 17453" descr="news_1E7B4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3128" y="4169664"/>
            <a:ext cx="237744" cy="237744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4882896" y="3995928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Size range eased to 35–70 mm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882896" y="4224528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ETV Bharat · 7 Jun 2026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4882896" y="4471416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E7B45"/>
                </a:solidFill>
                <a:latin typeface="Courier New"/>
              </a:rPr>
              <a:t>etvbharat.com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8119872" y="932688"/>
            <a:ext cx="37033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Rounded Rectangle 17458"/>
          <p:cNvSpPr/>
          <p:nvPr/>
        </p:nvSpPr>
        <p:spPr>
          <a:xfrm>
            <a:off x="8119872" y="932688"/>
            <a:ext cx="3703320" cy="402336"/>
          </a:xfrm>
          <a:prstGeom prst="roundRect">
            <a:avLst>
              <a:gd name="adj" fmla="val 12000"/>
            </a:avLst>
          </a:prstGeom>
          <a:solidFill>
            <a:srgbClr val="6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0" name="Picture 17459" descr="code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7888" y="987552"/>
            <a:ext cx="292608" cy="292608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8613648" y="932688"/>
            <a:ext cx="31546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60">
                <a:solidFill>
                  <a:srgbClr val="FFFFFF"/>
                </a:solidFill>
                <a:latin typeface="Cambria"/>
              </a:rPr>
              <a:t>TECHNOLOGY STACK</a:t>
            </a:r>
          </a:p>
        </p:txBody>
      </p:sp>
      <p:sp>
        <p:nvSpPr>
          <p:cNvPr id="17462" name="Oval 17461"/>
          <p:cNvSpPr/>
          <p:nvPr/>
        </p:nvSpPr>
        <p:spPr>
          <a:xfrm>
            <a:off x="8247888" y="1536192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3" name="Picture 17462" descr="marker_6A3FB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0184" y="1618488"/>
            <a:ext cx="237744" cy="237744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8759952" y="1444752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OpenCV ArUco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759952" y="1673352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Marker detection, homography, rectification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8759952" y="1920240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A3FB5"/>
                </a:solidFill>
                <a:latin typeface="Courier New"/>
              </a:rPr>
              <a:t>docs.opencv.org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8247888" y="2386584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8" name="Picture 17467" descr="cpu_6A3FB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0184" y="2468880"/>
            <a:ext cx="237744" cy="237744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8759952" y="2295144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scikit-learn · scikit-image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759952" y="2523744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Pixel segmenter, classifier, watershed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8759952" y="2770632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A3FB5"/>
                </a:solidFill>
                <a:latin typeface="Courier New"/>
              </a:rPr>
              <a:t>scikit-learn.org · scikit-image.org</a:t>
            </a:r>
          </a:p>
        </p:txBody>
      </p:sp>
      <p:sp>
        <p:nvSpPr>
          <p:cNvPr id="17472" name="Oval 17471"/>
          <p:cNvSpPr/>
          <p:nvPr/>
        </p:nvSpPr>
        <p:spPr>
          <a:xfrm>
            <a:off x="8247888" y="3236976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3" name="Picture 17472" descr="database_6A3FB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0184" y="3319272"/>
            <a:ext cx="237744" cy="237744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8759952" y="3145536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FastAPI · PostgreSQL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759952" y="3374136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REST API and audit-ready database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8759952" y="3621024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A3FB5"/>
                </a:solidFill>
                <a:latin typeface="Courier New"/>
              </a:rPr>
              <a:t>fastapi.tiangolo.com · postgresql.org</a:t>
            </a:r>
          </a:p>
        </p:txBody>
      </p:sp>
      <p:sp>
        <p:nvSpPr>
          <p:cNvPr id="17477" name="Oval 17476"/>
          <p:cNvSpPr/>
          <p:nvPr/>
        </p:nvSpPr>
        <p:spPr>
          <a:xfrm>
            <a:off x="8247888" y="4087368"/>
            <a:ext cx="402336" cy="402336"/>
          </a:xfrm>
          <a:prstGeom prst="ellipse">
            <a:avLst/>
          </a:prstGeom>
          <a:solidFill>
            <a:srgbClr val="F3F6F9"/>
          </a:solidFill>
          <a:ln w="12700">
            <a:solidFill>
              <a:srgbClr val="6A3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8" name="Picture 17477" descr="report_6A3FB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0184" y="4169664"/>
            <a:ext cx="237744" cy="237744"/>
          </a:xfrm>
          <a:prstGeom prst="rect">
            <a:avLst/>
          </a:prstGeom>
        </p:spPr>
      </p:pic>
      <p:sp>
        <p:nvSpPr>
          <p:cNvPr id="17479" name="TextBox 17478"/>
          <p:cNvSpPr txBox="1"/>
          <p:nvPr/>
        </p:nvSpPr>
        <p:spPr>
          <a:xfrm>
            <a:off x="8759952" y="3995928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ReportLab · CVAT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8759952" y="4224528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E2A36"/>
                </a:solidFill>
                <a:latin typeface="Calibri"/>
              </a:rPr>
              <a:t>PDF reports with QR · labelling tool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8759952" y="4471416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A3FB5"/>
                </a:solidFill>
                <a:latin typeface="Courier New"/>
              </a:rPr>
              <a:t>reportlab.com · cvat.ai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365760" y="5010912"/>
            <a:ext cx="11457432" cy="118872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5875">
            <a:solidFill>
              <a:srgbClr val="D06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3" name="TextBox 17482"/>
          <p:cNvSpPr txBox="1"/>
          <p:nvPr/>
        </p:nvSpPr>
        <p:spPr>
          <a:xfrm>
            <a:off x="530352" y="506577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D0621B"/>
                </a:solidFill>
                <a:latin typeface="Calibri"/>
              </a:rPr>
              <a:t>FIELD VALIDATION PLAN</a:t>
            </a:r>
          </a:p>
        </p:txBody>
      </p:sp>
      <p:sp>
        <p:nvSpPr>
          <p:cNvPr id="17484" name="Oval 17483"/>
          <p:cNvSpPr/>
          <p:nvPr/>
        </p:nvSpPr>
        <p:spPr>
          <a:xfrm>
            <a:off x="530352" y="5394960"/>
            <a:ext cx="402336" cy="402336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5" name="Picture 17484" descr="camera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0819" y="5475427"/>
            <a:ext cx="241401" cy="241401"/>
          </a:xfrm>
          <a:prstGeom prst="rect">
            <a:avLst/>
          </a:prstGeom>
        </p:spPr>
      </p:pic>
      <p:sp>
        <p:nvSpPr>
          <p:cNvPr id="17486" name="Oval 17485"/>
          <p:cNvSpPr/>
          <p:nvPr/>
        </p:nvSpPr>
        <p:spPr>
          <a:xfrm>
            <a:off x="987552" y="5394960"/>
            <a:ext cx="402336" cy="402336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7" name="Picture 17486" descr="ruler_FFFFF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8019" y="5475427"/>
            <a:ext cx="241401" cy="241401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1490472" y="534009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E2A36"/>
                </a:solidFill>
                <a:latin typeface="Calibri"/>
              </a:rPr>
              <a:t>1. Mandi sample study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1490472" y="5550408"/>
            <a:ext cx="26517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1E2A36"/>
                </a:solidFill>
                <a:latin typeface="Calibri"/>
              </a:rPr>
              <a:t>good and defective onions photographed on the mat and measured by ruler — the labelled training and test set.</a:t>
            </a:r>
          </a:p>
        </p:txBody>
      </p:sp>
      <p:sp>
        <p:nvSpPr>
          <p:cNvPr id="17490" name="Right Arrow 17489"/>
          <p:cNvSpPr/>
          <p:nvPr/>
        </p:nvSpPr>
        <p:spPr>
          <a:xfrm>
            <a:off x="4160520" y="5532120"/>
            <a:ext cx="182880" cy="146304"/>
          </a:xfrm>
          <a:prstGeom prst="rightArrow">
            <a:avLst/>
          </a:prstGeom>
          <a:solidFill>
            <a:srgbClr val="E3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Oval 17490"/>
          <p:cNvSpPr/>
          <p:nvPr/>
        </p:nvSpPr>
        <p:spPr>
          <a:xfrm>
            <a:off x="4343400" y="5394960"/>
            <a:ext cx="402336" cy="402336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2" name="Picture 17491" descr="eye_FFFFFF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23867" y="5475427"/>
            <a:ext cx="241401" cy="241401"/>
          </a:xfrm>
          <a:prstGeom prst="rect">
            <a:avLst/>
          </a:prstGeom>
        </p:spPr>
      </p:pic>
      <p:sp>
        <p:nvSpPr>
          <p:cNvPr id="17493" name="Oval 17492"/>
          <p:cNvSpPr/>
          <p:nvPr/>
        </p:nvSpPr>
        <p:spPr>
          <a:xfrm>
            <a:off x="4800600" y="5394960"/>
            <a:ext cx="402336" cy="402336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4" name="Picture 17493" descr="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067" y="5475427"/>
            <a:ext cx="241401" cy="241401"/>
          </a:xfrm>
          <a:prstGeom prst="rect">
            <a:avLst/>
          </a:prstGeom>
        </p:spPr>
      </p:pic>
      <p:sp>
        <p:nvSpPr>
          <p:cNvPr id="17495" name="TextBox 17494"/>
          <p:cNvSpPr txBox="1"/>
          <p:nvPr/>
        </p:nvSpPr>
        <p:spPr>
          <a:xfrm>
            <a:off x="5303520" y="534009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E2A36"/>
                </a:solidFill>
                <a:latin typeface="Calibri"/>
              </a:rPr>
              <a:t>2. Procurement-centre observation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5303520" y="5550408"/>
            <a:ext cx="26517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1E2A36"/>
                </a:solidFill>
                <a:latin typeface="Calibri"/>
              </a:rPr>
              <a:t>how officers draw and grade samples today, and which written norms they apply.</a:t>
            </a:r>
          </a:p>
        </p:txBody>
      </p:sp>
      <p:sp>
        <p:nvSpPr>
          <p:cNvPr id="17497" name="Right Arrow 17496"/>
          <p:cNvSpPr/>
          <p:nvPr/>
        </p:nvSpPr>
        <p:spPr>
          <a:xfrm>
            <a:off x="7973568" y="5532120"/>
            <a:ext cx="182880" cy="146304"/>
          </a:xfrm>
          <a:prstGeom prst="rightArrow">
            <a:avLst/>
          </a:prstGeom>
          <a:solidFill>
            <a:srgbClr val="E3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8" name="Oval 17497"/>
          <p:cNvSpPr/>
          <p:nvPr/>
        </p:nvSpPr>
        <p:spPr>
          <a:xfrm>
            <a:off x="8156448" y="5394960"/>
            <a:ext cx="402336" cy="402336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9" name="Picture 17498" descr="farmer_FFFFF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36915" y="5475427"/>
            <a:ext cx="241401" cy="241401"/>
          </a:xfrm>
          <a:prstGeom prst="rect">
            <a:avLst/>
          </a:prstGeom>
        </p:spPr>
      </p:pic>
      <p:sp>
        <p:nvSpPr>
          <p:cNvPr id="17500" name="Oval 17499"/>
          <p:cNvSpPr/>
          <p:nvPr/>
        </p:nvSpPr>
        <p:spPr>
          <a:xfrm>
            <a:off x="8613648" y="5394960"/>
            <a:ext cx="402336" cy="402336"/>
          </a:xfrm>
          <a:prstGeom prst="ellipse">
            <a:avLst/>
          </a:prstGeom>
          <a:solidFill>
            <a:srgbClr val="D0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1" name="Picture 17500" descr="scale_FFFFF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94115" y="5475427"/>
            <a:ext cx="241401" cy="241401"/>
          </a:xfrm>
          <a:prstGeom prst="rect">
            <a:avLst/>
          </a:prstGeom>
        </p:spPr>
      </p:pic>
      <p:sp>
        <p:nvSpPr>
          <p:cNvPr id="17502" name="TextBox 17501"/>
          <p:cNvSpPr txBox="1"/>
          <p:nvPr/>
        </p:nvSpPr>
        <p:spPr>
          <a:xfrm>
            <a:off x="9116568" y="534009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E2A36"/>
                </a:solidFill>
                <a:latin typeface="Calibri"/>
              </a:rPr>
              <a:t>3. Grader-agreement study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9116568" y="5550408"/>
            <a:ext cx="26517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1E2A36"/>
                </a:solidFill>
                <a:latin typeface="Calibri"/>
              </a:rPr>
              <a:t>six graders vs the app on the same onions — measures the subjectivity the PS describes. </a:t>
            </a:r>
            <a:r>
              <a:rPr sz="800" b="1" i="0">
                <a:solidFill>
                  <a:srgbClr val="1565C0"/>
                </a:solidFill>
                <a:latin typeface="Calibri"/>
              </a:rPr>
              <a:t>Click here to see the research report.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